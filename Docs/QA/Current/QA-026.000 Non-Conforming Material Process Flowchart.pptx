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66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EAE7D-4719-4920-ADA8-4C1428002C11}" type="datetimeFigureOut">
              <a:rPr lang="en-US" smtClean="0"/>
              <a:pPr/>
              <a:t>7/12/2011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7A850-EE8F-464F-9FF2-8FCEE3E0DD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EAE7D-4719-4920-ADA8-4C1428002C11}" type="datetimeFigureOut">
              <a:rPr lang="en-US" smtClean="0"/>
              <a:pPr/>
              <a:t>7/12/2011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7A850-EE8F-464F-9FF2-8FCEE3E0DD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EAE7D-4719-4920-ADA8-4C1428002C11}" type="datetimeFigureOut">
              <a:rPr lang="en-US" smtClean="0"/>
              <a:pPr/>
              <a:t>7/12/2011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7A850-EE8F-464F-9FF2-8FCEE3E0DD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EAE7D-4719-4920-ADA8-4C1428002C11}" type="datetimeFigureOut">
              <a:rPr lang="en-US" smtClean="0"/>
              <a:pPr/>
              <a:t>7/12/2011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7A850-EE8F-464F-9FF2-8FCEE3E0DD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EAE7D-4719-4920-ADA8-4C1428002C11}" type="datetimeFigureOut">
              <a:rPr lang="en-US" smtClean="0"/>
              <a:pPr/>
              <a:t>7/12/2011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7A850-EE8F-464F-9FF2-8FCEE3E0DD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EAE7D-4719-4920-ADA8-4C1428002C11}" type="datetimeFigureOut">
              <a:rPr lang="en-US" smtClean="0"/>
              <a:pPr/>
              <a:t>7/12/2011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7A850-EE8F-464F-9FF2-8FCEE3E0DD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EAE7D-4719-4920-ADA8-4C1428002C11}" type="datetimeFigureOut">
              <a:rPr lang="en-US" smtClean="0"/>
              <a:pPr/>
              <a:t>7/12/2011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7A850-EE8F-464F-9FF2-8FCEE3E0DD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EAE7D-4719-4920-ADA8-4C1428002C11}" type="datetimeFigureOut">
              <a:rPr lang="en-US" smtClean="0"/>
              <a:pPr/>
              <a:t>7/12/2011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7A850-EE8F-464F-9FF2-8FCEE3E0DD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EAE7D-4719-4920-ADA8-4C1428002C11}" type="datetimeFigureOut">
              <a:rPr lang="en-US" smtClean="0"/>
              <a:pPr/>
              <a:t>7/12/2011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7A850-EE8F-464F-9FF2-8FCEE3E0DD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EAE7D-4719-4920-ADA8-4C1428002C11}" type="datetimeFigureOut">
              <a:rPr lang="en-US" smtClean="0"/>
              <a:pPr/>
              <a:t>7/12/2011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7A850-EE8F-464F-9FF2-8FCEE3E0DD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EAE7D-4719-4920-ADA8-4C1428002C11}" type="datetimeFigureOut">
              <a:rPr lang="en-US" smtClean="0"/>
              <a:pPr/>
              <a:t>7/12/2011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7A850-EE8F-464F-9FF2-8FCEE3E0DD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1EAE7D-4719-4920-ADA8-4C1428002C11}" type="datetimeFigureOut">
              <a:rPr lang="en-US" smtClean="0"/>
              <a:pPr/>
              <a:t>7/12/2011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7A850-EE8F-464F-9FF2-8FCEE3E0DDD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3886200" y="4419600"/>
            <a:ext cx="1543050" cy="8080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Rework and Re-inspection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29" name="AutoShape 5"/>
          <p:cNvSpPr>
            <a:spLocks noChangeArrowheads="1"/>
          </p:cNvSpPr>
          <p:nvPr/>
        </p:nvSpPr>
        <p:spPr bwMode="auto">
          <a:xfrm>
            <a:off x="457200" y="4419600"/>
            <a:ext cx="1541462" cy="8080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Use As Is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30" name="AutoShape 6"/>
          <p:cNvSpPr>
            <a:spLocks noChangeArrowheads="1"/>
          </p:cNvSpPr>
          <p:nvPr/>
        </p:nvSpPr>
        <p:spPr bwMode="auto">
          <a:xfrm>
            <a:off x="7329197" y="4391905"/>
            <a:ext cx="1543050" cy="8080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Scrap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31" name="AutoShape 7"/>
          <p:cNvSpPr>
            <a:spLocks noChangeArrowheads="1"/>
          </p:cNvSpPr>
          <p:nvPr/>
        </p:nvSpPr>
        <p:spPr bwMode="auto">
          <a:xfrm>
            <a:off x="2133600" y="4419600"/>
            <a:ext cx="1543050" cy="8080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Conditional Release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/>
        </p:nvSpPr>
        <p:spPr bwMode="auto">
          <a:xfrm>
            <a:off x="339435" y="1496305"/>
            <a:ext cx="1644650" cy="80486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Discrepancy/Non-Conformance Identified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2436665" y="1496305"/>
            <a:ext cx="1758950" cy="80486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User completes NCMR, marks product, and forwards to QA for segregation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4565070" y="1496305"/>
            <a:ext cx="1460500" cy="80486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QA identifies MRB requirements and calls MRB meeting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6435435" y="1496305"/>
            <a:ext cx="2276475" cy="80486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MRB meets, reviews non-conformance and documents disposition and suggested corrective/preventive action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36" name="AutoShape 12"/>
          <p:cNvSpPr>
            <a:spLocks noChangeArrowheads="1"/>
          </p:cNvSpPr>
          <p:nvPr/>
        </p:nvSpPr>
        <p:spPr bwMode="auto">
          <a:xfrm>
            <a:off x="3616035" y="3020305"/>
            <a:ext cx="1897062" cy="804862"/>
          </a:xfrm>
          <a:prstGeom prst="flowChartDecision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MRB Disposition?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20" name="Straight Arrow Connector 19"/>
          <p:cNvCxnSpPr>
            <a:stCxn id="1032" idx="3"/>
            <a:endCxn id="1033" idx="1"/>
          </p:cNvCxnSpPr>
          <p:nvPr/>
        </p:nvCxnSpPr>
        <p:spPr>
          <a:xfrm>
            <a:off x="1984085" y="1898737"/>
            <a:ext cx="45258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033" idx="3"/>
            <a:endCxn id="1034" idx="1"/>
          </p:cNvCxnSpPr>
          <p:nvPr/>
        </p:nvCxnSpPr>
        <p:spPr>
          <a:xfrm>
            <a:off x="4195615" y="1898737"/>
            <a:ext cx="369455" cy="1588"/>
          </a:xfrm>
          <a:prstGeom prst="straightConnector1">
            <a:avLst/>
          </a:prstGeom>
          <a:ln>
            <a:tailEnd type="arrow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034" idx="3"/>
            <a:endCxn id="1035" idx="1"/>
          </p:cNvCxnSpPr>
          <p:nvPr/>
        </p:nvCxnSpPr>
        <p:spPr>
          <a:xfrm>
            <a:off x="6025570" y="1898737"/>
            <a:ext cx="409865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Elbow Connector 32"/>
          <p:cNvCxnSpPr>
            <a:stCxn id="1036" idx="2"/>
            <a:endCxn id="1029" idx="0"/>
          </p:cNvCxnSpPr>
          <p:nvPr/>
        </p:nvCxnSpPr>
        <p:spPr>
          <a:xfrm rot="5400000">
            <a:off x="2599033" y="2454066"/>
            <a:ext cx="594433" cy="333663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Elbow Connector 35"/>
          <p:cNvCxnSpPr>
            <a:stCxn id="1036" idx="2"/>
            <a:endCxn id="1031" idx="0"/>
          </p:cNvCxnSpPr>
          <p:nvPr/>
        </p:nvCxnSpPr>
        <p:spPr>
          <a:xfrm rot="5400000">
            <a:off x="3437630" y="3292663"/>
            <a:ext cx="594433" cy="1659441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Elbow Connector 38"/>
          <p:cNvCxnSpPr>
            <a:stCxn id="1036" idx="2"/>
            <a:endCxn id="1028" idx="0"/>
          </p:cNvCxnSpPr>
          <p:nvPr/>
        </p:nvCxnSpPr>
        <p:spPr>
          <a:xfrm rot="16200000" flipH="1">
            <a:off x="4313929" y="4075803"/>
            <a:ext cx="594433" cy="93159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Elbow Connector 41"/>
          <p:cNvCxnSpPr>
            <a:stCxn id="1036" idx="2"/>
            <a:endCxn id="1030" idx="0"/>
          </p:cNvCxnSpPr>
          <p:nvPr/>
        </p:nvCxnSpPr>
        <p:spPr>
          <a:xfrm rot="16200000" flipH="1">
            <a:off x="6049275" y="2340458"/>
            <a:ext cx="566738" cy="3536156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Elbow Connector 44"/>
          <p:cNvCxnSpPr>
            <a:stCxn id="1035" idx="2"/>
            <a:endCxn id="1036" idx="0"/>
          </p:cNvCxnSpPr>
          <p:nvPr/>
        </p:nvCxnSpPr>
        <p:spPr>
          <a:xfrm rot="5400000">
            <a:off x="5709552" y="1156183"/>
            <a:ext cx="719137" cy="3009107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3" name="Table 52"/>
          <p:cNvGraphicFramePr>
            <a:graphicFrameLocks noGrp="1"/>
          </p:cNvGraphicFramePr>
          <p:nvPr/>
        </p:nvGraphicFramePr>
        <p:xfrm>
          <a:off x="304800" y="228600"/>
          <a:ext cx="8465125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9804"/>
                <a:gridCol w="6035321"/>
              </a:tblGrid>
              <a:tr h="9144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1400" b="1" dirty="0" smtClean="0">
                          <a:solidFill>
                            <a:schemeClr val="tx1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Non-Conforming Material Process Flowchart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41" name="Rectangle 17"/>
          <p:cNvSpPr>
            <a:spLocks noChangeArrowheads="1"/>
          </p:cNvSpPr>
          <p:nvPr/>
        </p:nvSpPr>
        <p:spPr bwMode="auto">
          <a:xfrm>
            <a:off x="152400" y="6027003"/>
            <a:ext cx="8686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ctr"/>
                <a:tab pos="5943600" algn="r"/>
              </a:tabLst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Non-Conforming Material Process Flowchart			                       Confidential &amp; Proprietary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Document Number: QA-026				                 </a:t>
            </a:r>
            <a:r>
              <a:rPr lang="en-US" sz="1000" dirty="0" smtClean="0"/>
              <a:t> Page 1 of 4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ctr"/>
                <a:tab pos="5943600" algn="r"/>
              </a:tabLst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Version Number:  000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ctr"/>
                <a:tab pos="5943600" algn="r"/>
              </a:tabLst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1" name="AutoShape 4"/>
          <p:cNvSpPr>
            <a:spLocks noChangeArrowheads="1"/>
          </p:cNvSpPr>
          <p:nvPr/>
        </p:nvSpPr>
        <p:spPr bwMode="auto">
          <a:xfrm>
            <a:off x="5638800" y="4419600"/>
            <a:ext cx="1543050" cy="8080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Reject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65" name="Elbow Connector 64"/>
          <p:cNvCxnSpPr>
            <a:stCxn id="1036" idx="2"/>
            <a:endCxn id="61" idx="0"/>
          </p:cNvCxnSpPr>
          <p:nvPr/>
        </p:nvCxnSpPr>
        <p:spPr>
          <a:xfrm rot="16200000" flipH="1">
            <a:off x="5190229" y="3199503"/>
            <a:ext cx="594433" cy="1845759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950" y="400048"/>
            <a:ext cx="1885950" cy="571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60"/>
          <p:cNvSpPr txBox="1"/>
          <p:nvPr/>
        </p:nvSpPr>
        <p:spPr>
          <a:xfrm>
            <a:off x="6934200" y="2971800"/>
            <a:ext cx="4572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 smtClean="0"/>
              <a:t>Yes</a:t>
            </a:r>
            <a:endParaRPr lang="en-US" sz="8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97874" y="138550"/>
          <a:ext cx="8465125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9804"/>
                <a:gridCol w="6035321"/>
              </a:tblGrid>
              <a:tr h="9144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1400" b="1" dirty="0" smtClean="0">
                          <a:solidFill>
                            <a:schemeClr val="tx1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Non-Conforming Material Process Flowchart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5" name="Picture 4" descr="Sidways Logo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1000" y="228600"/>
            <a:ext cx="2276191" cy="790476"/>
          </a:xfrm>
          <a:prstGeom prst="rect">
            <a:avLst/>
          </a:prstGeom>
        </p:spPr>
      </p:pic>
      <p:sp>
        <p:nvSpPr>
          <p:cNvPr id="6" name="Rectangle 17"/>
          <p:cNvSpPr>
            <a:spLocks noChangeArrowheads="1"/>
          </p:cNvSpPr>
          <p:nvPr/>
        </p:nvSpPr>
        <p:spPr bwMode="auto">
          <a:xfrm>
            <a:off x="152400" y="6027003"/>
            <a:ext cx="8686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ctr"/>
                <a:tab pos="5943600" algn="r"/>
              </a:tabLst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Non-Conforming Material Process Flowchart			                       Confidential &amp; Proprietary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Document Number: QA-026				</a:t>
            </a:r>
            <a:r>
              <a:rPr lang="en-US" sz="1000" dirty="0">
                <a:ea typeface="Calibri" pitchFamily="34" charset="0"/>
                <a:cs typeface="Times New Roman" pitchFamily="18" charset="0"/>
              </a:rPr>
              <a:t> </a:t>
            </a:r>
            <a:r>
              <a:rPr lang="en-US" sz="1000" dirty="0" smtClean="0">
                <a:ea typeface="Calibri" pitchFamily="34" charset="0"/>
                <a:cs typeface="Times New Roman" pitchFamily="18" charset="0"/>
              </a:rPr>
              <a:t>                  P</a:t>
            </a:r>
            <a:r>
              <a:rPr lang="en-US" sz="1000" dirty="0" smtClean="0"/>
              <a:t>age 2 of 4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ctr"/>
                <a:tab pos="5943600" algn="r"/>
              </a:tabLst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Version Number:  000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ctr"/>
                <a:tab pos="5943600" algn="r"/>
              </a:tabLst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367145" y="2209800"/>
            <a:ext cx="1644650" cy="80486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Use As</a:t>
            </a:r>
            <a:r>
              <a:rPr kumimoji="0" lang="en-US" sz="11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 Is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374075" y="1205345"/>
            <a:ext cx="1644650" cy="80486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Conditional Release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3165790" y="1662560"/>
            <a:ext cx="1828800" cy="80486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QA modifies</a:t>
            </a:r>
            <a:r>
              <a:rPr kumimoji="0" lang="en-US" sz="11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 product labeling to reflect disposition and forwards product to appropriate location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4" name="Text Box 8"/>
          <p:cNvSpPr txBox="1">
            <a:spLocks noChangeArrowheads="1"/>
          </p:cNvSpPr>
          <p:nvPr/>
        </p:nvSpPr>
        <p:spPr bwMode="auto">
          <a:xfrm>
            <a:off x="5375590" y="1662560"/>
            <a:ext cx="1644650" cy="80486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NCMR Final Review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5" name="Text Box 8"/>
          <p:cNvSpPr txBox="1">
            <a:spLocks noChangeArrowheads="1"/>
          </p:cNvSpPr>
          <p:nvPr/>
        </p:nvSpPr>
        <p:spPr bwMode="auto">
          <a:xfrm>
            <a:off x="367145" y="3200400"/>
            <a:ext cx="1644650" cy="80486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Rework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6" name="Text Box 8"/>
          <p:cNvSpPr txBox="1">
            <a:spLocks noChangeArrowheads="1"/>
          </p:cNvSpPr>
          <p:nvPr/>
        </p:nvSpPr>
        <p:spPr bwMode="auto">
          <a:xfrm>
            <a:off x="360220" y="4204850"/>
            <a:ext cx="1644650" cy="80486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Reject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7" name="Text Box 8"/>
          <p:cNvSpPr txBox="1">
            <a:spLocks noChangeArrowheads="1"/>
          </p:cNvSpPr>
          <p:nvPr/>
        </p:nvSpPr>
        <p:spPr bwMode="auto">
          <a:xfrm>
            <a:off x="360220" y="5160815"/>
            <a:ext cx="1644650" cy="80486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Scrap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8" name="Text Box 8"/>
          <p:cNvSpPr txBox="1">
            <a:spLocks noChangeArrowheads="1"/>
          </p:cNvSpPr>
          <p:nvPr/>
        </p:nvSpPr>
        <p:spPr bwMode="auto">
          <a:xfrm>
            <a:off x="2334490" y="3200400"/>
            <a:ext cx="1644650" cy="80486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Appropriate department performs rework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0" name="Text Box 8"/>
          <p:cNvSpPr txBox="1">
            <a:spLocks noChangeArrowheads="1"/>
          </p:cNvSpPr>
          <p:nvPr/>
        </p:nvSpPr>
        <p:spPr bwMode="auto">
          <a:xfrm>
            <a:off x="4315690" y="3200400"/>
            <a:ext cx="1644650" cy="80486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QA performs</a:t>
            </a:r>
            <a:r>
              <a:rPr kumimoji="0" lang="en-US" sz="11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 inspection of rework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1" name="Flowchart: Decision 20"/>
          <p:cNvSpPr/>
          <p:nvPr/>
        </p:nvSpPr>
        <p:spPr>
          <a:xfrm>
            <a:off x="6234545" y="3304310"/>
            <a:ext cx="1371600" cy="612648"/>
          </a:xfrm>
          <a:prstGeom prst="flowChartDecision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smtClean="0">
                <a:solidFill>
                  <a:schemeClr val="tx1"/>
                </a:solidFill>
              </a:rPr>
              <a:t>Acceptable?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22" name="Text Box 8"/>
          <p:cNvSpPr txBox="1">
            <a:spLocks noChangeArrowheads="1"/>
          </p:cNvSpPr>
          <p:nvPr/>
        </p:nvSpPr>
        <p:spPr bwMode="auto">
          <a:xfrm>
            <a:off x="7938655" y="3200400"/>
            <a:ext cx="914400" cy="804672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Return to MRB Meeting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3" name="Text Box 8"/>
          <p:cNvSpPr txBox="1">
            <a:spLocks noChangeArrowheads="1"/>
          </p:cNvSpPr>
          <p:nvPr/>
        </p:nvSpPr>
        <p:spPr bwMode="auto">
          <a:xfrm>
            <a:off x="2424550" y="4204855"/>
            <a:ext cx="1995050" cy="80486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QA modifies</a:t>
            </a:r>
            <a:r>
              <a:rPr kumimoji="0" lang="en-US" sz="11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 product labeling to reflect disposition and forwards product to Purchasing for return to supplier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5" name="Text Box 8"/>
          <p:cNvSpPr txBox="1">
            <a:spLocks noChangeArrowheads="1"/>
          </p:cNvSpPr>
          <p:nvPr/>
        </p:nvSpPr>
        <p:spPr bwMode="auto">
          <a:xfrm>
            <a:off x="6096000" y="5153890"/>
            <a:ext cx="1644650" cy="80486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NCMR Final Review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6" name="Text Box 8"/>
          <p:cNvSpPr txBox="1">
            <a:spLocks noChangeArrowheads="1"/>
          </p:cNvSpPr>
          <p:nvPr/>
        </p:nvSpPr>
        <p:spPr bwMode="auto">
          <a:xfrm>
            <a:off x="2632370" y="5153890"/>
            <a:ext cx="1828800" cy="80486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Product destroyed and/or disposed</a:t>
            </a:r>
            <a:r>
              <a:rPr kumimoji="0" lang="en-US" sz="11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 of in an appropriate manner including all labeling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28" name="Elbow Connector 27"/>
          <p:cNvCxnSpPr>
            <a:stCxn id="11" idx="3"/>
            <a:endCxn id="12" idx="1"/>
          </p:cNvCxnSpPr>
          <p:nvPr/>
        </p:nvCxnSpPr>
        <p:spPr>
          <a:xfrm>
            <a:off x="2018725" y="1607777"/>
            <a:ext cx="1147065" cy="45721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Elbow Connector 30"/>
          <p:cNvCxnSpPr>
            <a:stCxn id="8" idx="3"/>
            <a:endCxn id="12" idx="1"/>
          </p:cNvCxnSpPr>
          <p:nvPr/>
        </p:nvCxnSpPr>
        <p:spPr>
          <a:xfrm flipV="1">
            <a:off x="2011795" y="2064992"/>
            <a:ext cx="1153995" cy="54724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2" idx="3"/>
            <a:endCxn id="14" idx="1"/>
          </p:cNvCxnSpPr>
          <p:nvPr/>
        </p:nvCxnSpPr>
        <p:spPr>
          <a:xfrm>
            <a:off x="4994590" y="2064992"/>
            <a:ext cx="381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5" idx="3"/>
            <a:endCxn id="18" idx="1"/>
          </p:cNvCxnSpPr>
          <p:nvPr/>
        </p:nvCxnSpPr>
        <p:spPr>
          <a:xfrm>
            <a:off x="2011795" y="3602832"/>
            <a:ext cx="322695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18" idx="3"/>
            <a:endCxn id="20" idx="1"/>
          </p:cNvCxnSpPr>
          <p:nvPr/>
        </p:nvCxnSpPr>
        <p:spPr>
          <a:xfrm>
            <a:off x="3979140" y="3602832"/>
            <a:ext cx="33655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20" idx="3"/>
            <a:endCxn id="21" idx="1"/>
          </p:cNvCxnSpPr>
          <p:nvPr/>
        </p:nvCxnSpPr>
        <p:spPr>
          <a:xfrm>
            <a:off x="5960340" y="3602832"/>
            <a:ext cx="274205" cy="780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1" idx="3"/>
            <a:endCxn id="22" idx="1"/>
          </p:cNvCxnSpPr>
          <p:nvPr/>
        </p:nvCxnSpPr>
        <p:spPr>
          <a:xfrm flipV="1">
            <a:off x="7606145" y="3602736"/>
            <a:ext cx="332510" cy="789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Elbow Connector 48"/>
          <p:cNvCxnSpPr>
            <a:stCxn id="21" idx="0"/>
            <a:endCxn id="12" idx="2"/>
          </p:cNvCxnSpPr>
          <p:nvPr/>
        </p:nvCxnSpPr>
        <p:spPr>
          <a:xfrm rot="16200000" flipV="1">
            <a:off x="5081825" y="1465789"/>
            <a:ext cx="836887" cy="284015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16" idx="3"/>
            <a:endCxn id="23" idx="1"/>
          </p:cNvCxnSpPr>
          <p:nvPr/>
        </p:nvCxnSpPr>
        <p:spPr>
          <a:xfrm>
            <a:off x="2004870" y="4607282"/>
            <a:ext cx="419680" cy="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17" idx="3"/>
            <a:endCxn id="26" idx="1"/>
          </p:cNvCxnSpPr>
          <p:nvPr/>
        </p:nvCxnSpPr>
        <p:spPr>
          <a:xfrm flipV="1">
            <a:off x="2004870" y="5556322"/>
            <a:ext cx="627500" cy="69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Elbow Connector 59"/>
          <p:cNvCxnSpPr>
            <a:stCxn id="26" idx="3"/>
            <a:endCxn id="25" idx="1"/>
          </p:cNvCxnSpPr>
          <p:nvPr/>
        </p:nvCxnSpPr>
        <p:spPr>
          <a:xfrm>
            <a:off x="4461170" y="5556322"/>
            <a:ext cx="1634830" cy="158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571510" y="3595250"/>
            <a:ext cx="3048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 smtClean="0"/>
              <a:t>No</a:t>
            </a:r>
            <a:endParaRPr lang="en-US" sz="800" dirty="0"/>
          </a:p>
        </p:txBody>
      </p:sp>
      <p:sp>
        <p:nvSpPr>
          <p:cNvPr id="68" name="Flowchart: Decision 67"/>
          <p:cNvSpPr/>
          <p:nvPr/>
        </p:nvSpPr>
        <p:spPr>
          <a:xfrm>
            <a:off x="4613565" y="4336475"/>
            <a:ext cx="1066800" cy="533400"/>
          </a:xfrm>
          <a:prstGeom prst="flowChartDecision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 smtClean="0">
                <a:solidFill>
                  <a:schemeClr val="tx1"/>
                </a:solidFill>
              </a:rPr>
              <a:t>CAPA Required?</a:t>
            </a: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74" name="Text Box 8"/>
          <p:cNvSpPr txBox="1">
            <a:spLocks noChangeArrowheads="1"/>
          </p:cNvSpPr>
          <p:nvPr/>
        </p:nvSpPr>
        <p:spPr bwMode="auto">
          <a:xfrm>
            <a:off x="5895109" y="4246414"/>
            <a:ext cx="1309256" cy="706585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A copy of the NCMR is used to initiate a SCPAP to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 include in return shipment to supplier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8" name="Text Box 8"/>
          <p:cNvSpPr txBox="1">
            <a:spLocks noChangeArrowheads="1"/>
          </p:cNvSpPr>
          <p:nvPr/>
        </p:nvSpPr>
        <p:spPr bwMode="auto">
          <a:xfrm>
            <a:off x="7460675" y="4208126"/>
            <a:ext cx="1433945" cy="790099"/>
          </a:xfrm>
          <a:prstGeom prst="trapezoid">
            <a:avLst>
              <a:gd name="adj" fmla="val 50593"/>
            </a:avLst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Corrective and Preventive Action Plans Policy and Procedure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80" name="Straight Arrow Connector 79"/>
          <p:cNvCxnSpPr>
            <a:stCxn id="68" idx="3"/>
            <a:endCxn id="74" idx="1"/>
          </p:cNvCxnSpPr>
          <p:nvPr/>
        </p:nvCxnSpPr>
        <p:spPr>
          <a:xfrm flipV="1">
            <a:off x="5680365" y="4599707"/>
            <a:ext cx="214744" cy="34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23" idx="3"/>
            <a:endCxn id="68" idx="1"/>
          </p:cNvCxnSpPr>
          <p:nvPr/>
        </p:nvCxnSpPr>
        <p:spPr>
          <a:xfrm flipV="1">
            <a:off x="4419600" y="4603175"/>
            <a:ext cx="193965" cy="41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74" idx="3"/>
            <a:endCxn id="78" idx="1"/>
          </p:cNvCxnSpPr>
          <p:nvPr/>
        </p:nvCxnSpPr>
        <p:spPr>
          <a:xfrm>
            <a:off x="7204365" y="4599707"/>
            <a:ext cx="456177" cy="346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Elbow Connector 89"/>
          <p:cNvCxnSpPr>
            <a:stCxn id="68" idx="2"/>
            <a:endCxn id="25" idx="1"/>
          </p:cNvCxnSpPr>
          <p:nvPr/>
        </p:nvCxnSpPr>
        <p:spPr>
          <a:xfrm rot="16200000" flipH="1">
            <a:off x="5278259" y="4738580"/>
            <a:ext cx="686447" cy="949035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5576460" y="4357255"/>
            <a:ext cx="4572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 smtClean="0"/>
              <a:t>Yes</a:t>
            </a:r>
            <a:endParaRPr lang="en-US" sz="800" dirty="0"/>
          </a:p>
        </p:txBody>
      </p:sp>
      <p:sp>
        <p:nvSpPr>
          <p:cNvPr id="93" name="TextBox 92"/>
          <p:cNvSpPr txBox="1"/>
          <p:nvPr/>
        </p:nvSpPr>
        <p:spPr>
          <a:xfrm>
            <a:off x="5146965" y="5105400"/>
            <a:ext cx="3048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 smtClean="0"/>
              <a:t>No</a:t>
            </a:r>
            <a:endParaRPr lang="en-US" sz="800" dirty="0"/>
          </a:p>
        </p:txBody>
      </p:sp>
      <p:cxnSp>
        <p:nvCxnSpPr>
          <p:cNvPr id="95" name="Elbow Connector 94"/>
          <p:cNvCxnSpPr>
            <a:stCxn id="74" idx="2"/>
            <a:endCxn id="25" idx="1"/>
          </p:cNvCxnSpPr>
          <p:nvPr/>
        </p:nvCxnSpPr>
        <p:spPr>
          <a:xfrm rot="5400000">
            <a:off x="6021208" y="5027792"/>
            <a:ext cx="603323" cy="453737"/>
          </a:xfrm>
          <a:prstGeom prst="bentConnector4">
            <a:avLst>
              <a:gd name="adj1" fmla="val 16649"/>
              <a:gd name="adj2" fmla="val 150382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idways Logo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1000" y="304800"/>
            <a:ext cx="2276191" cy="79047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04800" y="228600"/>
          <a:ext cx="8465125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9804"/>
                <a:gridCol w="6035321"/>
              </a:tblGrid>
              <a:tr h="9144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1400" b="1" dirty="0" smtClean="0">
                          <a:solidFill>
                            <a:schemeClr val="tx1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Non-Conforming Material Process Flowchart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2667000" y="1738745"/>
            <a:ext cx="1644650" cy="80486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QA reviews NCMR for accuracy</a:t>
            </a:r>
            <a:r>
              <a:rPr kumimoji="0" lang="en-US" sz="11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 and completeness, any issues resolved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7010400" y="1738745"/>
            <a:ext cx="1600200" cy="80486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NCMR  information entered</a:t>
            </a:r>
            <a:r>
              <a:rPr kumimoji="0" lang="en-US" sz="11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 into tracking records and original and all attachments filed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lowchart: Decision 7"/>
          <p:cNvSpPr/>
          <p:nvPr/>
        </p:nvSpPr>
        <p:spPr>
          <a:xfrm>
            <a:off x="4876800" y="1752600"/>
            <a:ext cx="1371600" cy="762000"/>
          </a:xfrm>
          <a:prstGeom prst="flowChartDecision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smtClean="0">
                <a:solidFill>
                  <a:schemeClr val="tx1"/>
                </a:solidFill>
              </a:rPr>
              <a:t>CAPA Required?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4731325" y="3338945"/>
            <a:ext cx="1644650" cy="80486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A copy of the NCMR is used to initiate a CPAP or SCPAP</a:t>
            </a:r>
            <a:r>
              <a:rPr kumimoji="0" lang="en-US" sz="11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 as necessary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4731325" y="4634345"/>
            <a:ext cx="1644650" cy="804863"/>
          </a:xfrm>
          <a:prstGeom prst="trapezoid">
            <a:avLst>
              <a:gd name="adj" fmla="val 40492"/>
            </a:avLst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Corrective and Preventive Action Plans Policy and Procedure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1925780"/>
            <a:ext cx="3048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 smtClean="0"/>
              <a:t>No</a:t>
            </a:r>
            <a:endParaRPr lang="en-US" sz="800" dirty="0"/>
          </a:p>
        </p:txBody>
      </p:sp>
      <p:sp>
        <p:nvSpPr>
          <p:cNvPr id="12" name="TextBox 11"/>
          <p:cNvSpPr txBox="1"/>
          <p:nvPr/>
        </p:nvSpPr>
        <p:spPr>
          <a:xfrm>
            <a:off x="5562600" y="2729345"/>
            <a:ext cx="4572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 smtClean="0"/>
              <a:t>Yes</a:t>
            </a:r>
            <a:endParaRPr lang="en-US" sz="800" dirty="0"/>
          </a:p>
        </p:txBody>
      </p:sp>
      <p:cxnSp>
        <p:nvCxnSpPr>
          <p:cNvPr id="14" name="Straight Arrow Connector 13"/>
          <p:cNvCxnSpPr>
            <a:stCxn id="6" idx="3"/>
            <a:endCxn id="8" idx="1"/>
          </p:cNvCxnSpPr>
          <p:nvPr/>
        </p:nvCxnSpPr>
        <p:spPr>
          <a:xfrm flipV="1">
            <a:off x="4311650" y="2133600"/>
            <a:ext cx="565150" cy="75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3"/>
            <a:endCxn id="7" idx="1"/>
          </p:cNvCxnSpPr>
          <p:nvPr/>
        </p:nvCxnSpPr>
        <p:spPr>
          <a:xfrm>
            <a:off x="6248400" y="2133600"/>
            <a:ext cx="762000" cy="75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8" idx="2"/>
            <a:endCxn id="9" idx="0"/>
          </p:cNvCxnSpPr>
          <p:nvPr/>
        </p:nvCxnSpPr>
        <p:spPr>
          <a:xfrm rot="5400000">
            <a:off x="5145953" y="2922297"/>
            <a:ext cx="824345" cy="89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9" idx="2"/>
            <a:endCxn id="10" idx="0"/>
          </p:cNvCxnSpPr>
          <p:nvPr/>
        </p:nvCxnSpPr>
        <p:spPr>
          <a:xfrm rot="5400000">
            <a:off x="5308382" y="4389076"/>
            <a:ext cx="490537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hape 21"/>
          <p:cNvCxnSpPr>
            <a:stCxn id="9" idx="3"/>
            <a:endCxn id="7" idx="2"/>
          </p:cNvCxnSpPr>
          <p:nvPr/>
        </p:nvCxnSpPr>
        <p:spPr>
          <a:xfrm flipV="1">
            <a:off x="6375975" y="2543608"/>
            <a:ext cx="1434525" cy="1197769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 Box 8"/>
          <p:cNvSpPr txBox="1">
            <a:spLocks noChangeArrowheads="1"/>
          </p:cNvSpPr>
          <p:nvPr/>
        </p:nvSpPr>
        <p:spPr bwMode="auto">
          <a:xfrm>
            <a:off x="457200" y="1738745"/>
            <a:ext cx="1644650" cy="80486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NCMR Final Review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25" name="Straight Arrow Connector 24"/>
          <p:cNvCxnSpPr>
            <a:stCxn id="23" idx="3"/>
            <a:endCxn id="6" idx="1"/>
          </p:cNvCxnSpPr>
          <p:nvPr/>
        </p:nvCxnSpPr>
        <p:spPr>
          <a:xfrm>
            <a:off x="2101850" y="2141177"/>
            <a:ext cx="56515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7"/>
          <p:cNvSpPr>
            <a:spLocks noChangeArrowheads="1"/>
          </p:cNvSpPr>
          <p:nvPr/>
        </p:nvSpPr>
        <p:spPr bwMode="auto">
          <a:xfrm>
            <a:off x="152400" y="6027003"/>
            <a:ext cx="8686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ctr"/>
                <a:tab pos="5943600" algn="r"/>
              </a:tabLst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Non-Conforming Material Process Flowchart			                       Confidential &amp; Proprietary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Document Number: QA-026				</a:t>
            </a:r>
            <a:r>
              <a:rPr lang="en-US" sz="1000" dirty="0">
                <a:ea typeface="Calibri" pitchFamily="34" charset="0"/>
                <a:cs typeface="Times New Roman" pitchFamily="18" charset="0"/>
              </a:rPr>
              <a:t> </a:t>
            </a:r>
            <a:r>
              <a:rPr lang="en-US" sz="1000" dirty="0" smtClean="0">
                <a:ea typeface="Calibri" pitchFamily="34" charset="0"/>
                <a:cs typeface="Times New Roman" pitchFamily="18" charset="0"/>
              </a:rPr>
              <a:t>                  P</a:t>
            </a:r>
            <a:r>
              <a:rPr lang="en-US" sz="1000" dirty="0" smtClean="0"/>
              <a:t>age 3 of 4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ctr"/>
                <a:tab pos="5943600" algn="r"/>
              </a:tabLst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Version Number:  000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ctr"/>
                <a:tab pos="5943600" algn="r"/>
              </a:tabLst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04800" y="228600"/>
          <a:ext cx="8465125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9804"/>
                <a:gridCol w="6035321"/>
              </a:tblGrid>
              <a:tr h="9144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1400" b="1" dirty="0" smtClean="0">
                          <a:solidFill>
                            <a:schemeClr val="tx1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Non-Conforming Material Process Flowchart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3" name="Picture 2" descr="Sidways Logo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1000" y="304800"/>
            <a:ext cx="2276191" cy="790476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609600" y="1447800"/>
            <a:ext cx="7696200" cy="584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fr-FR" sz="1400" b="1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Document </a:t>
            </a:r>
            <a:r>
              <a:rPr lang="en-US" sz="1400" b="1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Revision</a:t>
            </a:r>
            <a:r>
              <a:rPr lang="fr-FR" sz="1400" b="1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n-US" sz="1400" b="1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History</a:t>
            </a:r>
            <a:endParaRPr lang="en-US" dirty="0">
              <a:ea typeface="Calibri" pitchFamily="34" charset="0"/>
              <a:cs typeface="Times New Roman" pitchFamily="18" charset="0"/>
            </a:endParaRPr>
          </a:p>
          <a:p>
            <a:pPr algn="ctr" eaLnBrk="0" hangingPunct="0"/>
            <a:endParaRPr lang="en-US" sz="1800" dirty="0">
              <a:ea typeface="Calibri" pitchFamily="34" charset="0"/>
              <a:cs typeface="Times New Roman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24000" y="1752601"/>
          <a:ext cx="6079490" cy="3809994"/>
        </p:xfrm>
        <a:graphic>
          <a:graphicData uri="http://schemas.openxmlformats.org/drawingml/2006/table">
            <a:tbl>
              <a:tblPr/>
              <a:tblGrid>
                <a:gridCol w="982980"/>
                <a:gridCol w="800100"/>
                <a:gridCol w="2496820"/>
                <a:gridCol w="899795"/>
                <a:gridCol w="899795"/>
              </a:tblGrid>
              <a:tr h="80033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dirty="0">
                          <a:latin typeface="Times New Roman"/>
                          <a:ea typeface="Calibri"/>
                          <a:cs typeface="Times New Roman"/>
                        </a:rPr>
                        <a:t>Change Order Number: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latin typeface="Times New Roman"/>
                          <a:ea typeface="Calibri"/>
                          <a:cs typeface="Times New Roman"/>
                        </a:rPr>
                        <a:t>Version Number: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dirty="0">
                          <a:latin typeface="Times New Roman"/>
                          <a:ea typeface="Calibri"/>
                          <a:cs typeface="Times New Roman"/>
                        </a:rPr>
                        <a:t>Description of Change: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latin typeface="Times New Roman"/>
                          <a:ea typeface="Calibri"/>
                          <a:cs typeface="Times New Roman"/>
                        </a:rPr>
                        <a:t>Date: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latin typeface="Times New Roman"/>
                          <a:ea typeface="Calibri"/>
                          <a:cs typeface="Times New Roman"/>
                        </a:rPr>
                        <a:t>Updated by: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08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dirty="0" smtClean="0">
                          <a:latin typeface="Times New Roman"/>
                          <a:ea typeface="Calibri"/>
                          <a:cs typeface="Times New Roman"/>
                        </a:rPr>
                        <a:t>CC-100526-01</a:t>
                      </a: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dirty="0">
                          <a:latin typeface="Times New Roman"/>
                          <a:ea typeface="Calibri"/>
                          <a:cs typeface="Times New Roman"/>
                        </a:rPr>
                        <a:t>000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dirty="0">
                          <a:latin typeface="Times New Roman"/>
                          <a:ea typeface="Calibri"/>
                          <a:cs typeface="Times New Roman"/>
                        </a:rPr>
                        <a:t>New Document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dirty="0" smtClean="0">
                          <a:latin typeface="Times New Roman"/>
                          <a:ea typeface="Calibri"/>
                          <a:cs typeface="Times New Roman"/>
                        </a:rPr>
                        <a:t>05/28/10</a:t>
                      </a: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smtClean="0">
                          <a:latin typeface="Times New Roman"/>
                          <a:ea typeface="Calibri"/>
                          <a:cs typeface="Times New Roman"/>
                        </a:rPr>
                        <a:t>A.M.M.</a:t>
                      </a: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08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fr-FR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fr-FR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08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fr-FR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08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08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08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08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08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08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08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08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08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Rectangle 17"/>
          <p:cNvSpPr>
            <a:spLocks noChangeArrowheads="1"/>
          </p:cNvSpPr>
          <p:nvPr/>
        </p:nvSpPr>
        <p:spPr bwMode="auto">
          <a:xfrm>
            <a:off x="152400" y="6027003"/>
            <a:ext cx="8686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ctr"/>
                <a:tab pos="5943600" algn="r"/>
              </a:tabLst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Non-Conforming Material Process Flowchart			                       Confidential &amp; Proprietary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Document Number: QA-026				</a:t>
            </a:r>
            <a:r>
              <a:rPr lang="en-US" sz="1000" dirty="0">
                <a:ea typeface="Calibri" pitchFamily="34" charset="0"/>
                <a:cs typeface="Times New Roman" pitchFamily="18" charset="0"/>
              </a:rPr>
              <a:t> </a:t>
            </a:r>
            <a:r>
              <a:rPr lang="en-US" sz="1000" dirty="0" smtClean="0">
                <a:ea typeface="Calibri" pitchFamily="34" charset="0"/>
                <a:cs typeface="Times New Roman" pitchFamily="18" charset="0"/>
              </a:rPr>
              <a:t>                  </a:t>
            </a:r>
            <a:r>
              <a:rPr lang="en-US" sz="1000" smtClean="0">
                <a:ea typeface="Calibri" pitchFamily="34" charset="0"/>
                <a:cs typeface="Times New Roman" pitchFamily="18" charset="0"/>
              </a:rPr>
              <a:t>P</a:t>
            </a:r>
            <a:r>
              <a:rPr lang="en-US" sz="1000" smtClean="0"/>
              <a:t>age 4 of 4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ctr"/>
                <a:tab pos="5943600" algn="r"/>
              </a:tabLst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Version Number:  000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ctr"/>
                <a:tab pos="5943600" algn="r"/>
              </a:tabLst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263</Words>
  <Application>Microsoft Office PowerPoint</Application>
  <PresentationFormat>On-screen Show (4:3)</PresentationFormat>
  <Paragraphs>66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Andie Miller</dc:creator>
  <cp:lastModifiedBy>Jan Ayres</cp:lastModifiedBy>
  <cp:revision>16</cp:revision>
  <dcterms:created xsi:type="dcterms:W3CDTF">2010-05-20T23:11:34Z</dcterms:created>
  <dcterms:modified xsi:type="dcterms:W3CDTF">2011-07-12T20:42:42Z</dcterms:modified>
</cp:coreProperties>
</file>
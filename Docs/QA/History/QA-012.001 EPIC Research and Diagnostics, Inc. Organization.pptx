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3" r:id="rId2"/>
    <p:sldId id="259" r:id="rId3"/>
    <p:sldId id="276" r:id="rId4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2B5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297" autoAdjust="0"/>
    <p:restoredTop sz="91017" autoAdjust="0"/>
  </p:normalViewPr>
  <p:slideViewPr>
    <p:cSldViewPr>
      <p:cViewPr varScale="1">
        <p:scale>
          <a:sx n="67" d="100"/>
          <a:sy n="67" d="100"/>
        </p:scale>
        <p:origin x="-19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737" y="1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771830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737" y="8771830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fld id="{9C5834F1-D959-476A-9A7B-875CE2524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5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7" y="1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45" y="4387443"/>
            <a:ext cx="5609232" cy="4156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771830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737" y="8771830"/>
            <a:ext cx="3038145" cy="46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fld id="{F019D4C2-C839-4350-91F5-B8AE38D228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80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16130" indent="-275434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0173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542433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198312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42382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86451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30521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74590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FA58E99-DF27-43C1-9BC3-5ADBF03C567B}" type="slidenum">
              <a:rPr lang="en-US" sz="1300"/>
              <a:pPr eaLnBrk="1" hangingPunct="1"/>
              <a:t>1</a:t>
            </a:fld>
            <a:endParaRPr 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16130" indent="-275434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0173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542433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198312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42382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86451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30521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74590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4D9130E-EAB9-42EC-B46A-F99FF21F3170}" type="slidenum">
              <a:rPr lang="en-US" sz="1300"/>
              <a:pPr eaLnBrk="1" hangingPunct="1"/>
              <a:t>2</a:t>
            </a:fld>
            <a:endParaRPr 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0DBDC-4DA6-4C61-9D1B-EE6534D857D5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E3CDD-BBD7-4E7E-9CE6-7B9652811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1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4A4BB-A409-49F0-8B18-7162C411C595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CF59A-A7CF-4A09-B724-55BB8EB293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6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28930-E991-4B7E-A246-B2DECFCA4A2D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C8BF8-84F5-4C9D-86DF-9D117C0552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3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06E39-795F-45D0-AA4F-74312585F2A8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F61D1-8717-4CDA-A10D-22E50A525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AABDE-CF91-48D7-82F6-81A0E2999FE9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B58B8-D6CE-4288-8637-71DE921D3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0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F20BD-61DF-4B1F-9246-69D2CC3902D0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3C26F-CE94-4FBB-900C-D2B2CFC4DD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9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5ED80-C3C6-4B9E-A491-D256C36C9485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7DB94-E560-4CE1-9B90-B5E725968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9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F36D5-ED3F-438E-A9C0-1D21A4160D3D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3E638-760E-46AE-9994-60268AE87F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A5437-8B25-4556-A21C-5E97846D8F81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471C9-3CED-4477-9E31-E93F50DDB8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0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1677F-F48B-43D6-8A78-3C718DF3036F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C9AFE-31DB-4A81-AAA6-2564C77ED8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7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9A22-41AB-40A9-BB93-60284D6B7F8A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F71F3-3005-4D20-9B3D-45BBE2C3B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7398-0766-4AE7-9CC9-308D8674255A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879B9-FDD4-4DEC-AF29-8B83C04446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1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91400" y="6553200"/>
            <a:ext cx="213360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8858EC15-2EEB-4344-A960-EA2648239E08}" type="datetime1">
              <a:rPr lang="en-US"/>
              <a:pPr>
                <a:defRPr/>
              </a:pPr>
              <a:t>1/3/2012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" y="6477000"/>
            <a:ext cx="2133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C74640C-B3C0-4146-A12C-EB5690EFD4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67640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EPIC Research </a:t>
            </a:r>
            <a:r>
              <a:rPr lang="en-US" sz="2400" dirty="0"/>
              <a:t>&amp;</a:t>
            </a:r>
            <a:r>
              <a:rPr lang="en-US" sz="2400" dirty="0" smtClean="0"/>
              <a:t> Diagnostics, Inc. </a:t>
            </a:r>
            <a:br>
              <a:rPr lang="en-US" sz="2400" dirty="0" smtClean="0"/>
            </a:br>
            <a:r>
              <a:rPr lang="en-US" sz="2400" dirty="0" smtClean="0"/>
              <a:t>Organization</a:t>
            </a:r>
          </a:p>
        </p:txBody>
      </p:sp>
      <p:sp>
        <p:nvSpPr>
          <p:cNvPr id="2051" name="Rectangle 6"/>
          <p:cNvSpPr>
            <a:spLocks noChangeArrowheads="1"/>
          </p:cNvSpPr>
          <p:nvPr/>
        </p:nvSpPr>
        <p:spPr bwMode="auto">
          <a:xfrm>
            <a:off x="533400" y="3962400"/>
            <a:ext cx="8229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8501 E. Princess Drive, Suite 100</a:t>
            </a:r>
            <a:r>
              <a:rPr lang="en-US" sz="1200" dirty="0">
                <a:solidFill>
                  <a:schemeClr val="tx2"/>
                </a:solidFill>
              </a:rPr>
              <a:t/>
            </a:r>
            <a:br>
              <a:rPr lang="en-US" sz="1200" dirty="0">
                <a:solidFill>
                  <a:schemeClr val="tx2"/>
                </a:solidFill>
              </a:rPr>
            </a:br>
            <a:r>
              <a:rPr lang="en-US" sz="1200" dirty="0">
                <a:solidFill>
                  <a:schemeClr val="tx2"/>
                </a:solidFill>
              </a:rPr>
              <a:t>Scottsdale, AZ </a:t>
            </a:r>
            <a:r>
              <a:rPr lang="en-US" sz="1200" dirty="0" smtClean="0">
                <a:solidFill>
                  <a:schemeClr val="tx2"/>
                </a:solidFill>
              </a:rPr>
              <a:t>85255</a:t>
            </a:r>
            <a:r>
              <a:rPr lang="en-US" sz="1200" dirty="0">
                <a:solidFill>
                  <a:schemeClr val="tx2"/>
                </a:solidFill>
              </a:rPr>
              <a:t/>
            </a:r>
            <a:br>
              <a:rPr lang="en-US" sz="1200" dirty="0">
                <a:solidFill>
                  <a:schemeClr val="tx2"/>
                </a:solidFill>
              </a:rPr>
            </a:br>
            <a:r>
              <a:rPr lang="en-US" sz="1200" dirty="0">
                <a:solidFill>
                  <a:schemeClr val="tx2"/>
                </a:solidFill>
              </a:rPr>
              <a:t>www.epicdiagnostics.com</a:t>
            </a:r>
          </a:p>
        </p:txBody>
      </p:sp>
      <p:sp>
        <p:nvSpPr>
          <p:cNvPr id="2052" name="Footer Placeholder 6"/>
          <p:cNvSpPr txBox="1">
            <a:spLocks/>
          </p:cNvSpPr>
          <p:nvPr/>
        </p:nvSpPr>
        <p:spPr bwMode="auto">
          <a:xfrm>
            <a:off x="457200" y="58674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EPIC Research &amp;</a:t>
            </a:r>
            <a:r>
              <a:rPr lang="en-US" dirty="0" smtClean="0"/>
              <a:t> </a:t>
            </a:r>
            <a:r>
              <a:rPr lang="en-US" dirty="0"/>
              <a:t>Diagnostics, Inc. Organization				</a:t>
            </a:r>
            <a:r>
              <a:rPr lang="en-US" dirty="0" smtClean="0"/>
              <a:t>	     Confidential </a:t>
            </a:r>
            <a:r>
              <a:rPr lang="en-US" dirty="0"/>
              <a:t>&amp; Proprietary</a:t>
            </a:r>
          </a:p>
          <a:p>
            <a:pPr eaLnBrk="1" hangingPunct="1"/>
            <a:r>
              <a:rPr lang="en-US" dirty="0"/>
              <a:t>Document Number: </a:t>
            </a:r>
            <a:r>
              <a:rPr lang="en-US" dirty="0" smtClean="0"/>
              <a:t>QA-012 </a:t>
            </a:r>
            <a:r>
              <a:rPr lang="en-US" dirty="0"/>
              <a:t>						         	     Page 1</a:t>
            </a:r>
          </a:p>
          <a:p>
            <a:pPr eaLnBrk="1" hangingPunct="1"/>
            <a:r>
              <a:rPr lang="en-US" dirty="0"/>
              <a:t>Version </a:t>
            </a:r>
            <a:r>
              <a:rPr lang="en-US" dirty="0" smtClean="0"/>
              <a:t>Number:001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5" y="533400"/>
            <a:ext cx="3219450" cy="1756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609600"/>
          </a:xfrm>
        </p:spPr>
        <p:txBody>
          <a:bodyPr/>
          <a:lstStyle/>
          <a:p>
            <a:pPr eaLnBrk="1" hangingPunct="1"/>
            <a:endParaRPr lang="en-US" sz="28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1441027" y="1752600"/>
            <a:ext cx="5721773" cy="4265835"/>
            <a:chOff x="1441027" y="1144364"/>
            <a:chExt cx="6338144" cy="4874071"/>
          </a:xfrm>
        </p:grpSpPr>
        <p:sp>
          <p:nvSpPr>
            <p:cNvPr id="3" name="Freeform 2"/>
            <p:cNvSpPr/>
            <p:nvPr/>
          </p:nvSpPr>
          <p:spPr>
            <a:xfrm>
              <a:off x="6806823" y="3386807"/>
              <a:ext cx="91440" cy="3891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38918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Freeform 3"/>
            <p:cNvSpPr/>
            <p:nvPr/>
          </p:nvSpPr>
          <p:spPr>
            <a:xfrm>
              <a:off x="5170710" y="2070993"/>
              <a:ext cx="1681832" cy="3891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94592"/>
                  </a:lnTo>
                  <a:lnTo>
                    <a:pt x="1681832" y="194592"/>
                  </a:lnTo>
                  <a:lnTo>
                    <a:pt x="1681832" y="389184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Freeform 4"/>
            <p:cNvSpPr/>
            <p:nvPr/>
          </p:nvSpPr>
          <p:spPr>
            <a:xfrm>
              <a:off x="3488878" y="3386807"/>
              <a:ext cx="194592" cy="21683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168312"/>
                  </a:lnTo>
                  <a:lnTo>
                    <a:pt x="194592" y="216831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Freeform 5"/>
            <p:cNvSpPr/>
            <p:nvPr/>
          </p:nvSpPr>
          <p:spPr>
            <a:xfrm>
              <a:off x="3294286" y="3386807"/>
              <a:ext cx="194592" cy="21683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94592" y="0"/>
                  </a:moveTo>
                  <a:lnTo>
                    <a:pt x="194592" y="2168312"/>
                  </a:lnTo>
                  <a:lnTo>
                    <a:pt x="0" y="216831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reeform 6"/>
            <p:cNvSpPr/>
            <p:nvPr/>
          </p:nvSpPr>
          <p:spPr>
            <a:xfrm>
              <a:off x="3488878" y="3386807"/>
              <a:ext cx="194592" cy="85249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52499"/>
                  </a:lnTo>
                  <a:lnTo>
                    <a:pt x="194592" y="852499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 7"/>
            <p:cNvSpPr/>
            <p:nvPr/>
          </p:nvSpPr>
          <p:spPr>
            <a:xfrm>
              <a:off x="3294286" y="3386807"/>
              <a:ext cx="194592" cy="85249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94592" y="0"/>
                  </a:moveTo>
                  <a:lnTo>
                    <a:pt x="194592" y="852499"/>
                  </a:lnTo>
                  <a:lnTo>
                    <a:pt x="0" y="852499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4244081" y="1144364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Thomas  Blondi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President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562248" y="2460178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Michael </a:t>
              </a:r>
              <a:r>
                <a:rPr kumimoji="0" lang="en-US" sz="1200" b="1" i="0" u="none" strike="noStrike" kern="1200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Stowell</a:t>
              </a:r>
              <a:endParaRPr kumimoji="0" lang="en-US" sz="12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Chief Financial Officer &amp; VP of Operations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1441027" y="3775992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>
                  <a:solidFill>
                    <a:schemeClr val="tx1"/>
                  </a:solidFill>
                </a:rPr>
                <a:t>Jan Ayres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0" kern="1200" dirty="0" smtClean="0">
                  <a:solidFill>
                    <a:schemeClr val="tx1"/>
                  </a:solidFill>
                </a:rPr>
                <a:t>Project Implementation Manager</a:t>
              </a:r>
              <a:endParaRPr lang="en-US" sz="12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3683470" y="3775992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>
                  <a:solidFill>
                    <a:schemeClr val="tx1"/>
                  </a:solidFill>
                </a:rPr>
                <a:t>Megan McNamee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 smtClean="0">
                  <a:solidFill>
                    <a:schemeClr val="tx1"/>
                  </a:solidFill>
                </a:rPr>
                <a:t>Clinical Programs Manager</a:t>
              </a:r>
              <a:endParaRPr lang="en-US" sz="12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1441027" y="5091806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>
                  <a:solidFill>
                    <a:schemeClr val="tx1"/>
                  </a:solidFill>
                </a:rPr>
                <a:t>Melissa Ward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 smtClean="0">
                  <a:solidFill>
                    <a:schemeClr val="tx1"/>
                  </a:solidFill>
                </a:rPr>
                <a:t>Executive Assistant</a:t>
              </a:r>
              <a:endParaRPr lang="en-US" sz="12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3683470" y="5091806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>
                  <a:solidFill>
                    <a:schemeClr val="tx1"/>
                  </a:solidFill>
                </a:rPr>
                <a:t>Jessica Sims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 smtClean="0">
                  <a:solidFill>
                    <a:schemeClr val="tx1"/>
                  </a:solidFill>
                </a:rPr>
                <a:t>Clinical Support Manager</a:t>
              </a:r>
              <a:endParaRPr lang="en-US" sz="12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5925913" y="2460178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Andrew Mason</a:t>
              </a:r>
              <a:endPara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Chief Technology Officer</a:t>
              </a:r>
              <a:endParaRPr kumimoji="0" lang="en-US" sz="12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925913" y="3775992"/>
              <a:ext cx="1853258" cy="926629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>
                  <a:solidFill>
                    <a:schemeClr val="tx1"/>
                  </a:solidFill>
                </a:rPr>
                <a:t>Brian </a:t>
              </a:r>
              <a:r>
                <a:rPr lang="en-US" sz="1200" b="1" kern="1200" dirty="0" err="1" smtClean="0">
                  <a:solidFill>
                    <a:schemeClr val="tx1"/>
                  </a:solidFill>
                </a:rPr>
                <a:t>Cullinan</a:t>
              </a:r>
              <a:endParaRPr lang="en-US" sz="1200" b="1" kern="1200" dirty="0" smtClean="0">
                <a:solidFill>
                  <a:schemeClr val="tx1"/>
                </a:solidFill>
              </a:endParaRP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 smtClean="0">
                  <a:solidFill>
                    <a:schemeClr val="tx1"/>
                  </a:solidFill>
                </a:rPr>
                <a:t>Software Developer</a:t>
              </a:r>
              <a:endParaRPr lang="en-US" sz="12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33400" y="6096000"/>
            <a:ext cx="81534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dirty="0" smtClean="0"/>
              <a:t>EPIC Research </a:t>
            </a:r>
            <a:r>
              <a:rPr lang="en-US" dirty="0"/>
              <a:t>&amp;</a:t>
            </a:r>
            <a:r>
              <a:rPr lang="en-US" dirty="0" smtClean="0"/>
              <a:t> Diagnostics, Inc. Organization					     Confidential &amp; Proprietary</a:t>
            </a:r>
          </a:p>
          <a:p>
            <a:pPr algn="l" eaLnBrk="1" hangingPunct="1"/>
            <a:r>
              <a:rPr lang="en-US" dirty="0" smtClean="0"/>
              <a:t>Document Number: QA-012						         	     Page 2</a:t>
            </a:r>
          </a:p>
          <a:p>
            <a:pPr algn="l" eaLnBrk="1" hangingPunct="1"/>
            <a:r>
              <a:rPr lang="en-US" dirty="0" smtClean="0"/>
              <a:t>Version Number: 001</a:t>
            </a:r>
          </a:p>
        </p:txBody>
      </p:sp>
      <p:sp>
        <p:nvSpPr>
          <p:cNvPr id="21" name="Freeform 20"/>
          <p:cNvSpPr/>
          <p:nvPr/>
        </p:nvSpPr>
        <p:spPr>
          <a:xfrm>
            <a:off x="3971490" y="704073"/>
            <a:ext cx="1673033" cy="813816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Nancy Rizzo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Founder/CEO</a:t>
            </a:r>
            <a:endParaRPr kumimoji="0" lang="en-US" sz="120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3289729" y="2759542"/>
            <a:ext cx="1518277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3281182" y="2759542"/>
            <a:ext cx="1" cy="144671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4808006" y="1517889"/>
            <a:ext cx="1" cy="234711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Freeform 32"/>
          <p:cNvSpPr/>
          <p:nvPr/>
        </p:nvSpPr>
        <p:spPr>
          <a:xfrm>
            <a:off x="6334829" y="1752600"/>
            <a:ext cx="1673033" cy="810995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Andrea Miller</a:t>
            </a:r>
            <a:endParaRPr kumimoji="0" lang="en-US" sz="1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Quality Assurance</a:t>
            </a:r>
            <a:r>
              <a:rPr kumimoji="0" lang="en-US" sz="1200" b="0" i="0" u="none" strike="noStrike" kern="1200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Manager</a:t>
            </a:r>
            <a:endParaRPr kumimoji="0" lang="en-US" sz="1200" b="1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4" name="Straight Connector 33"/>
          <p:cNvCxnSpPr/>
          <p:nvPr/>
        </p:nvCxnSpPr>
        <p:spPr bwMode="auto">
          <a:xfrm flipH="1">
            <a:off x="5644525" y="2158097"/>
            <a:ext cx="681758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314121"/>
              </p:ext>
            </p:extLst>
          </p:nvPr>
        </p:nvGraphicFramePr>
        <p:xfrm>
          <a:off x="1524000" y="2438400"/>
          <a:ext cx="6080126" cy="3272386"/>
        </p:xfrm>
        <a:graphic>
          <a:graphicData uri="http://schemas.openxmlformats.org/drawingml/2006/table">
            <a:tbl>
              <a:tblPr/>
              <a:tblGrid>
                <a:gridCol w="983083"/>
                <a:gridCol w="800184"/>
                <a:gridCol w="2497081"/>
                <a:gridCol w="899889"/>
                <a:gridCol w="899889"/>
              </a:tblGrid>
              <a:tr h="505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Change Order Number: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latin typeface="Times New Roman"/>
                          <a:ea typeface="Calibri"/>
                          <a:cs typeface="Times New Roman"/>
                        </a:rPr>
                        <a:t>Version Number: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Description of Change: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0" dirty="0" smtClean="0">
                          <a:latin typeface="Times New Roman"/>
                          <a:ea typeface="Calibri"/>
                          <a:cs typeface="Times New Roman"/>
                        </a:rPr>
                        <a:t>Date:</a:t>
                      </a:r>
                      <a:endParaRPr lang="en-US" sz="11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0" dirty="0">
                          <a:latin typeface="Times New Roman"/>
                          <a:ea typeface="Calibri"/>
                          <a:cs typeface="Times New Roman"/>
                        </a:rPr>
                        <a:t>Updated </a:t>
                      </a:r>
                      <a:r>
                        <a:rPr lang="en-US" sz="1100" b="0" dirty="0" smtClean="0">
                          <a:latin typeface="Times New Roman"/>
                          <a:ea typeface="Calibri"/>
                          <a:cs typeface="Times New Roman"/>
                        </a:rPr>
                        <a:t>by:</a:t>
                      </a:r>
                      <a:endParaRPr lang="en-US" sz="11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CC-091409-02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New Document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10/08/09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smtClean="0">
                          <a:latin typeface="Times New Roman"/>
                          <a:ea typeface="Calibri"/>
                          <a:cs typeface="Times New Roman"/>
                        </a:rPr>
                        <a:t>AM</a:t>
                      </a: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CC-110810-01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001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latin typeface="Times New Roman"/>
                          <a:ea typeface="Calibri"/>
                          <a:cs typeface="Times New Roman"/>
                        </a:rPr>
                        <a:t>Revisions to</a:t>
                      </a:r>
                      <a:r>
                        <a:rPr lang="en-US" sz="1100" baseline="0" dirty="0" smtClean="0">
                          <a:latin typeface="Times New Roman"/>
                          <a:ea typeface="Calibri"/>
                          <a:cs typeface="Times New Roman"/>
                        </a:rPr>
                        <a:t> organization chart to reflect current organizational structure and to update corporate address.</a:t>
                      </a: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100" dirty="0" smtClean="0">
                          <a:latin typeface="Times New Roman"/>
                          <a:ea typeface="Calibri"/>
                          <a:cs typeface="Times New Roman"/>
                        </a:rPr>
                        <a:t>8/12/11</a:t>
                      </a:r>
                      <a:endParaRPr lang="fr-FR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100" dirty="0" smtClean="0">
                          <a:latin typeface="Times New Roman"/>
                          <a:ea typeface="Calibri"/>
                          <a:cs typeface="Times New Roman"/>
                        </a:rPr>
                        <a:t>J.</a:t>
                      </a:r>
                      <a:r>
                        <a:rPr lang="fr-FR" sz="1100" baseline="0" dirty="0" smtClean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fr-FR" sz="1100" baseline="0" dirty="0" smtClean="0">
                          <a:latin typeface="Times New Roman"/>
                          <a:ea typeface="Calibri"/>
                          <a:cs typeface="Times New Roman"/>
                        </a:rPr>
                        <a:t>Ayres</a:t>
                      </a:r>
                      <a:endParaRPr lang="fr-FR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3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fr-FR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80" name="Rectangle 1"/>
          <p:cNvSpPr>
            <a:spLocks noChangeArrowheads="1"/>
          </p:cNvSpPr>
          <p:nvPr/>
        </p:nvSpPr>
        <p:spPr bwMode="auto">
          <a:xfrm>
            <a:off x="559085" y="1956341"/>
            <a:ext cx="76962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fr-FR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Document </a:t>
            </a:r>
            <a:r>
              <a:rPr lang="en-US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Revision</a:t>
            </a:r>
            <a:r>
              <a:rPr lang="fr-FR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History</a:t>
            </a:r>
          </a:p>
          <a:p>
            <a:pPr algn="ctr"/>
            <a:endParaRPr lang="en-US" sz="1400" b="1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algn="ctr"/>
            <a:endParaRPr lang="en-US" dirty="0"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endParaRPr lang="en-US" sz="18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5" name="Rectangle 75"/>
          <p:cNvSpPr txBox="1">
            <a:spLocks noChangeArrowheads="1"/>
          </p:cNvSpPr>
          <p:nvPr/>
        </p:nvSpPr>
        <p:spPr>
          <a:xfrm>
            <a:off x="4191000" y="304800"/>
            <a:ext cx="4419600" cy="1104900"/>
          </a:xfrm>
          <a:prstGeom prst="rect">
            <a:avLst/>
          </a:prstGeom>
          <a:noFill/>
          <a:ln/>
        </p:spPr>
        <p:txBody>
          <a:bodyPr anchor="b"/>
          <a:lstStyle/>
          <a:p>
            <a:pPr algn="ctr">
              <a:defRPr/>
            </a:pPr>
            <a:r>
              <a:rPr lang="en-US" sz="2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Organization</a:t>
            </a:r>
            <a:br>
              <a:rPr lang="en-US" sz="2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Chart</a:t>
            </a:r>
          </a:p>
        </p:txBody>
      </p:sp>
      <p:sp>
        <p:nvSpPr>
          <p:cNvPr id="828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33400" y="6096000"/>
            <a:ext cx="81534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dirty="0" smtClean="0"/>
              <a:t>EPIC Research </a:t>
            </a:r>
            <a:r>
              <a:rPr lang="en-US" dirty="0"/>
              <a:t>&amp;</a:t>
            </a:r>
            <a:r>
              <a:rPr lang="en-US" dirty="0" smtClean="0"/>
              <a:t> Diagnostics, Inc. Organization					     Confidential &amp; Proprietary</a:t>
            </a:r>
          </a:p>
          <a:p>
            <a:pPr algn="l" eaLnBrk="1" hangingPunct="1"/>
            <a:r>
              <a:rPr lang="en-US" dirty="0" smtClean="0"/>
              <a:t>Document Number: QA-012						         	     Page 3</a:t>
            </a:r>
          </a:p>
          <a:p>
            <a:pPr algn="l" eaLnBrk="1" hangingPunct="1"/>
            <a:r>
              <a:rPr lang="en-US" dirty="0" smtClean="0"/>
              <a:t>Version Number: 001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"/>
            <a:ext cx="29337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9643</TotalTime>
  <Words>129</Words>
  <Application>Microsoft Office PowerPoint</Application>
  <PresentationFormat>On-screen Show (4:3)</PresentationFormat>
  <Paragraphs>51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Default Design</vt:lpstr>
      <vt:lpstr>   EPIC Research &amp; Diagnostics, Inc.  Organization</vt:lpstr>
      <vt:lpstr>PowerPoint Presentation</vt:lpstr>
      <vt:lpstr>PowerPoint Presentation</vt:lpstr>
    </vt:vector>
  </TitlesOfParts>
  <Company>Radiall Jerrik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</dc:title>
  <dc:creator>WS000039</dc:creator>
  <cp:lastModifiedBy>Jan Ayres</cp:lastModifiedBy>
  <cp:revision>356</cp:revision>
  <cp:lastPrinted>2011-08-12T16:59:17Z</cp:lastPrinted>
  <dcterms:created xsi:type="dcterms:W3CDTF">2005-11-07T22:12:48Z</dcterms:created>
  <dcterms:modified xsi:type="dcterms:W3CDTF">2012-01-03T20:57:09Z</dcterms:modified>
</cp:coreProperties>
</file>
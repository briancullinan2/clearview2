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73" r:id="rId2"/>
    <p:sldId id="259" r:id="rId3"/>
    <p:sldId id="276" r:id="rId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9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B2B5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>
    <p:restoredLeft sz="11297" autoAdjust="0"/>
    <p:restoredTop sz="91017" autoAdjust="0"/>
  </p:normalViewPr>
  <p:slideViewPr>
    <p:cSldViewPr>
      <p:cViewPr varScale="1">
        <p:scale>
          <a:sx n="88" d="100"/>
          <a:sy n="88" d="100"/>
        </p:scale>
        <p:origin x="-207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t" anchorCtr="0" compatLnSpc="1">
            <a:prstTxWarp prst="textNoShape">
              <a:avLst/>
            </a:prstTxWarp>
          </a:bodyPr>
          <a:lstStyle>
            <a:lvl1pPr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738" y="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t" anchorCtr="0" compatLnSpc="1">
            <a:prstTxWarp prst="textNoShape">
              <a:avLst/>
            </a:prstTxWarp>
          </a:bodyPr>
          <a:lstStyle>
            <a:lvl1pPr algn="r"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8829123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b" anchorCtr="0" compatLnSpc="1">
            <a:prstTxWarp prst="textNoShape">
              <a:avLst/>
            </a:prstTxWarp>
          </a:bodyPr>
          <a:lstStyle>
            <a:lvl1pPr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738" y="8829123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b" anchorCtr="0" compatLnSpc="1">
            <a:prstTxWarp prst="textNoShape">
              <a:avLst/>
            </a:prstTxWarp>
          </a:bodyPr>
          <a:lstStyle>
            <a:lvl1pPr algn="r" defTabSz="919645">
              <a:defRPr sz="1300"/>
            </a:lvl1pPr>
          </a:lstStyle>
          <a:p>
            <a:pPr>
              <a:defRPr/>
            </a:pPr>
            <a:fld id="{9C5834F1-D959-476A-9A7B-875CE2524D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3557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t" anchorCtr="0" compatLnSpc="1">
            <a:prstTxWarp prst="textNoShape">
              <a:avLst/>
            </a:prstTxWarp>
          </a:bodyPr>
          <a:lstStyle>
            <a:lvl1pPr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738" y="2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t" anchorCtr="0" compatLnSpc="1">
            <a:prstTxWarp prst="textNoShape">
              <a:avLst/>
            </a:prstTxWarp>
          </a:bodyPr>
          <a:lstStyle>
            <a:lvl1pPr algn="r"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345" y="4416100"/>
            <a:ext cx="5609232" cy="4183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8829123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b" anchorCtr="0" compatLnSpc="1">
            <a:prstTxWarp prst="textNoShape">
              <a:avLst/>
            </a:prstTxWarp>
          </a:bodyPr>
          <a:lstStyle>
            <a:lvl1pPr defTabSz="919645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738" y="8829123"/>
            <a:ext cx="3038145" cy="4657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30" tIns="46015" rIns="92030" bIns="46015" numCol="1" anchor="b" anchorCtr="0" compatLnSpc="1">
            <a:prstTxWarp prst="textNoShape">
              <a:avLst/>
            </a:prstTxWarp>
          </a:bodyPr>
          <a:lstStyle>
            <a:lvl1pPr algn="r" defTabSz="919645">
              <a:defRPr sz="1300"/>
            </a:lvl1pPr>
          </a:lstStyle>
          <a:p>
            <a:pPr>
              <a:defRPr/>
            </a:pPr>
            <a:fld id="{F019D4C2-C839-4350-91F5-B8AE38D228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080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1pPr>
            <a:lvl2pPr marL="716130" indent="-275434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01738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3pPr>
            <a:lvl4pPr marL="1542433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4pPr>
            <a:lvl5pPr marL="1983128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5pPr>
            <a:lvl6pPr marL="2423823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864518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305213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745908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FA58E99-DF27-43C1-9BC3-5ADBF03C567B}" type="slidenum">
              <a:rPr lang="en-US" sz="1300"/>
              <a:pPr eaLnBrk="1" hangingPunct="1"/>
              <a:t>1</a:t>
            </a:fld>
            <a:endParaRPr 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1pPr>
            <a:lvl2pPr marL="716130" indent="-275434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01738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3pPr>
            <a:lvl4pPr marL="1542433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4pPr>
            <a:lvl5pPr marL="1983128" indent="-220348" defTabSz="919645" eaLnBrk="0" hangingPunct="0">
              <a:defRPr sz="900">
                <a:solidFill>
                  <a:schemeClr val="tx1"/>
                </a:solidFill>
                <a:latin typeface="Arial" charset="0"/>
              </a:defRPr>
            </a:lvl5pPr>
            <a:lvl6pPr marL="2423823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864518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305213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745908" indent="-220348" defTabSz="919645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4D9130E-EAB9-42EC-B46A-F99FF21F3170}" type="slidenum">
              <a:rPr lang="en-US" sz="1300"/>
              <a:pPr eaLnBrk="1" hangingPunct="1"/>
              <a:t>2</a:t>
            </a:fld>
            <a:endParaRPr lang="en-US" sz="13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F0DBDC-4DA6-4C61-9D1B-EE6534D857D5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E3CDD-BBD7-4E7E-9CE6-7B96528118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1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84A4BB-A409-49F0-8B18-7162C411C595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DCF59A-A7CF-4A09-B724-55BB8EB293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64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28930-E991-4B7E-A246-B2DECFCA4A2D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7C8BF8-84F5-4C9D-86DF-9D117C0552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32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406E39-795F-45D0-AA4F-74312585F2A8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F61D1-8717-4CDA-A10D-22E50A5252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AABDE-CF91-48D7-82F6-81A0E2999FE9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4B58B8-D6CE-4288-8637-71DE921D36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04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4F20BD-61DF-4B1F-9246-69D2CC3902D0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53C26F-CE94-4FBB-900C-D2B2CFC4DD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92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75ED80-C3C6-4B9E-A491-D256C36C9485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17DB94-E560-4CE1-9B90-B5E725968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89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F36D5-ED3F-438E-A9C0-1D21A4160D3D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3E638-760E-46AE-9994-60268AE87F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8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A5437-8B25-4556-A21C-5E97846D8F81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471C9-3CED-4477-9E31-E93F50DDB8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902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1677F-F48B-43D6-8A78-3C718DF3036F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AC9AFE-31DB-4A81-AAA6-2564C77ED8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7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9A22-41AB-40A9-BB93-60284D6B7F8A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6F71F3-3005-4D20-9B3D-45BBE2C3B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36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77398-0766-4AE7-9CC9-308D8674255A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C879B9-FDD4-4DEC-AF29-8B83C04446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81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391400" y="6553200"/>
            <a:ext cx="2133600" cy="17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8858EC15-2EEB-4344-A960-EA2648239E08}" type="datetime1">
              <a:rPr lang="en-US"/>
              <a:pPr>
                <a:defRPr/>
              </a:pPr>
              <a:t>1/30/2012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EPIC Research and Diagnostics, Inc. Organization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" y="6477000"/>
            <a:ext cx="21336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C74640C-B3C0-4146-A12C-EB5690EFD4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4"/>
          <p:cNvSpPr>
            <a:spLocks noGrp="1" noChangeArrowheads="1"/>
          </p:cNvSpPr>
          <p:nvPr>
            <p:ph type="title"/>
          </p:nvPr>
        </p:nvSpPr>
        <p:spPr>
          <a:xfrm>
            <a:off x="609600" y="167640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EPIC Research </a:t>
            </a:r>
            <a:r>
              <a:rPr lang="en-US" sz="2400" dirty="0"/>
              <a:t>&amp;</a:t>
            </a:r>
            <a:r>
              <a:rPr lang="en-US" sz="2400" dirty="0" smtClean="0"/>
              <a:t> Diagnostics, Inc. </a:t>
            </a:r>
            <a:br>
              <a:rPr lang="en-US" sz="2400" dirty="0" smtClean="0"/>
            </a:br>
            <a:r>
              <a:rPr lang="en-US" sz="2400" dirty="0" smtClean="0"/>
              <a:t>Organization</a:t>
            </a:r>
          </a:p>
        </p:txBody>
      </p:sp>
      <p:sp>
        <p:nvSpPr>
          <p:cNvPr id="2051" name="Rectangle 6"/>
          <p:cNvSpPr>
            <a:spLocks noChangeArrowheads="1"/>
          </p:cNvSpPr>
          <p:nvPr/>
        </p:nvSpPr>
        <p:spPr bwMode="auto">
          <a:xfrm>
            <a:off x="533400" y="3962400"/>
            <a:ext cx="82296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1200" dirty="0" smtClean="0">
                <a:solidFill>
                  <a:schemeClr val="tx2"/>
                </a:solidFill>
              </a:rPr>
              <a:t>8501 E. Princess Drive, Suite 100</a:t>
            </a:r>
            <a:r>
              <a:rPr lang="en-US" sz="1200" dirty="0">
                <a:solidFill>
                  <a:schemeClr val="tx2"/>
                </a:solidFill>
              </a:rPr>
              <a:t/>
            </a:r>
            <a:br>
              <a:rPr lang="en-US" sz="1200" dirty="0">
                <a:solidFill>
                  <a:schemeClr val="tx2"/>
                </a:solidFill>
              </a:rPr>
            </a:br>
            <a:r>
              <a:rPr lang="en-US" sz="1200" dirty="0">
                <a:solidFill>
                  <a:schemeClr val="tx2"/>
                </a:solidFill>
              </a:rPr>
              <a:t>Scottsdale, AZ </a:t>
            </a:r>
            <a:r>
              <a:rPr lang="en-US" sz="1200" dirty="0" smtClean="0">
                <a:solidFill>
                  <a:schemeClr val="tx2"/>
                </a:solidFill>
              </a:rPr>
              <a:t>85255</a:t>
            </a:r>
            <a:r>
              <a:rPr lang="en-US" sz="1200" dirty="0">
                <a:solidFill>
                  <a:schemeClr val="tx2"/>
                </a:solidFill>
              </a:rPr>
              <a:t/>
            </a:r>
            <a:br>
              <a:rPr lang="en-US" sz="1200" dirty="0">
                <a:solidFill>
                  <a:schemeClr val="tx2"/>
                </a:solidFill>
              </a:rPr>
            </a:br>
            <a:r>
              <a:rPr lang="en-US" sz="1200" dirty="0">
                <a:solidFill>
                  <a:schemeClr val="tx2"/>
                </a:solidFill>
              </a:rPr>
              <a:t>www.epicdiagnostics.com</a:t>
            </a:r>
          </a:p>
        </p:txBody>
      </p:sp>
      <p:sp>
        <p:nvSpPr>
          <p:cNvPr id="2052" name="Footer Placeholder 6"/>
          <p:cNvSpPr txBox="1">
            <a:spLocks/>
          </p:cNvSpPr>
          <p:nvPr/>
        </p:nvSpPr>
        <p:spPr bwMode="auto">
          <a:xfrm>
            <a:off x="457200" y="5867400"/>
            <a:ext cx="8153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EPIC Research &amp;</a:t>
            </a:r>
            <a:r>
              <a:rPr lang="en-US" dirty="0" smtClean="0"/>
              <a:t> </a:t>
            </a:r>
            <a:r>
              <a:rPr lang="en-US" dirty="0"/>
              <a:t>Diagnostics, Inc. Organization				</a:t>
            </a:r>
            <a:r>
              <a:rPr lang="en-US" dirty="0" smtClean="0"/>
              <a:t>	     Confidential </a:t>
            </a:r>
            <a:r>
              <a:rPr lang="en-US" dirty="0"/>
              <a:t>&amp; Proprietary</a:t>
            </a:r>
          </a:p>
          <a:p>
            <a:pPr eaLnBrk="1" hangingPunct="1"/>
            <a:r>
              <a:rPr lang="en-US" dirty="0"/>
              <a:t>Document Number: </a:t>
            </a:r>
            <a:r>
              <a:rPr lang="en-US" dirty="0" smtClean="0"/>
              <a:t>QA-012 </a:t>
            </a:r>
            <a:r>
              <a:rPr lang="en-US" dirty="0"/>
              <a:t>						         	     Page 1</a:t>
            </a:r>
          </a:p>
          <a:p>
            <a:pPr eaLnBrk="1" hangingPunct="1"/>
            <a:r>
              <a:rPr lang="en-US" dirty="0"/>
              <a:t>Version </a:t>
            </a:r>
            <a:r>
              <a:rPr lang="en-US" dirty="0" smtClean="0"/>
              <a:t>Number:002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8475" y="533400"/>
            <a:ext cx="3219450" cy="17560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0"/>
            <a:ext cx="8229600" cy="609600"/>
          </a:xfrm>
        </p:spPr>
        <p:txBody>
          <a:bodyPr/>
          <a:lstStyle/>
          <a:p>
            <a:pPr eaLnBrk="1" hangingPunct="1"/>
            <a:endParaRPr lang="en-US" sz="2800" dirty="0" smtClean="0"/>
          </a:p>
        </p:txBody>
      </p:sp>
      <p:grpSp>
        <p:nvGrpSpPr>
          <p:cNvPr id="2" name="Group 1"/>
          <p:cNvGrpSpPr/>
          <p:nvPr/>
        </p:nvGrpSpPr>
        <p:grpSpPr>
          <a:xfrm>
            <a:off x="1524000" y="1462489"/>
            <a:ext cx="5721773" cy="3201586"/>
            <a:chOff x="1441027" y="812886"/>
            <a:chExt cx="6338144" cy="3658078"/>
          </a:xfrm>
        </p:grpSpPr>
        <p:sp>
          <p:nvSpPr>
            <p:cNvPr id="10" name="Freeform 9"/>
            <p:cNvSpPr/>
            <p:nvPr/>
          </p:nvSpPr>
          <p:spPr>
            <a:xfrm>
              <a:off x="4173831" y="812886"/>
              <a:ext cx="1853258" cy="679735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Thomas  Blondi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President</a:t>
              </a:r>
            </a:p>
          </p:txBody>
        </p:sp>
        <p:sp>
          <p:nvSpPr>
            <p:cNvPr id="11" name="Freeform 10"/>
            <p:cNvSpPr/>
            <p:nvPr/>
          </p:nvSpPr>
          <p:spPr>
            <a:xfrm>
              <a:off x="2562248" y="2015012"/>
              <a:ext cx="1853258" cy="685898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Michael </a:t>
              </a:r>
              <a:r>
                <a:rPr kumimoji="0" lang="en-US" sz="1100" b="1" i="0" u="none" strike="noStrike" kern="1200" cap="none" normalizeH="0" baseline="0" dirty="0" err="1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Stowell</a:t>
              </a:r>
              <a:endParaRPr kumimoji="0" lang="en-US" sz="1100" b="1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Chief Financial Officer    </a:t>
              </a:r>
              <a:r>
                <a:rPr lang="en-US" sz="1100" dirty="0" smtClean="0">
                  <a:solidFill>
                    <a:schemeClr val="tx1"/>
                  </a:solidFill>
                  <a:latin typeface="Arial" charset="0"/>
                </a:rPr>
                <a:t> &amp;</a:t>
              </a:r>
              <a:r>
                <a:rPr kumimoji="0" lang="en-US" sz="1100" b="0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 VP of Operations</a:t>
              </a:r>
            </a:p>
          </p:txBody>
        </p:sp>
        <p:sp>
          <p:nvSpPr>
            <p:cNvPr id="13" name="Freeform 12"/>
            <p:cNvSpPr/>
            <p:nvPr/>
          </p:nvSpPr>
          <p:spPr>
            <a:xfrm>
              <a:off x="1441027" y="2923492"/>
              <a:ext cx="1853258" cy="658687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ts val="300"/>
                </a:spcAft>
              </a:pPr>
              <a:r>
                <a:rPr lang="en-US" sz="1100" b="1" kern="1200" dirty="0" smtClean="0">
                  <a:solidFill>
                    <a:schemeClr val="tx1"/>
                  </a:solidFill>
                </a:rPr>
                <a:t>Jan Ayres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b="0" kern="1200" dirty="0" smtClean="0">
                  <a:solidFill>
                    <a:schemeClr val="tx1"/>
                  </a:solidFill>
                </a:rPr>
                <a:t>Project Implementation Manager</a:t>
              </a:r>
              <a:endParaRPr lang="en-US" sz="11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3683470" y="2923494"/>
              <a:ext cx="1853258" cy="658684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ts val="300"/>
                </a:spcAft>
              </a:pPr>
              <a:r>
                <a:rPr lang="en-US" sz="1100" b="1" kern="1200" dirty="0" smtClean="0">
                  <a:solidFill>
                    <a:schemeClr val="tx1"/>
                  </a:solidFill>
                </a:rPr>
                <a:t>Megan McNamee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>
                  <a:solidFill>
                    <a:schemeClr val="tx1"/>
                  </a:solidFill>
                </a:rPr>
                <a:t>Clinical Programs Manager</a:t>
              </a:r>
              <a:endParaRPr lang="en-US" sz="1100" kern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1441027" y="3813057"/>
              <a:ext cx="1853258" cy="657907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ts val="300"/>
                </a:spcAft>
              </a:pPr>
              <a:r>
                <a:rPr lang="en-US" sz="1100" b="1" kern="1200" dirty="0" smtClean="0">
                  <a:solidFill>
                    <a:schemeClr val="tx1"/>
                  </a:solidFill>
                </a:rPr>
                <a:t>Melissa Ward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>
                  <a:solidFill>
                    <a:schemeClr val="tx1"/>
                  </a:solidFill>
                </a:rPr>
                <a:t>Executive Assistant</a:t>
              </a:r>
              <a:endParaRPr lang="en-US" sz="1100" kern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>
              <a:off x="3683470" y="3813056"/>
              <a:ext cx="1853258" cy="657907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ts val="300"/>
                </a:spcAft>
              </a:pPr>
              <a:r>
                <a:rPr lang="en-US" sz="1100" b="1" kern="1200" dirty="0" smtClean="0">
                  <a:solidFill>
                    <a:schemeClr val="tx1"/>
                  </a:solidFill>
                </a:rPr>
                <a:t>Jessica Sims</a:t>
              </a: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>
                  <a:solidFill>
                    <a:schemeClr val="tx1"/>
                  </a:solidFill>
                </a:rPr>
                <a:t>Clinical Support Manager</a:t>
              </a:r>
              <a:endParaRPr lang="en-US" sz="1100" kern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5925913" y="2015012"/>
              <a:ext cx="1853258" cy="685898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Andrew Mason</a:t>
              </a:r>
              <a:endParaRPr kumimoji="0" lang="en-US" sz="11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kern="1200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Chief Technology Officer &amp; Software Engineer</a:t>
              </a:r>
              <a:endParaRPr kumimoji="0" lang="en-US" sz="1100" b="1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925913" y="2923493"/>
              <a:ext cx="1853258" cy="658686"/>
            </a:xfrm>
            <a:custGeom>
              <a:avLst/>
              <a:gdLst>
                <a:gd name="connsiteX0" fmla="*/ 0 w 1853258"/>
                <a:gd name="connsiteY0" fmla="*/ 0 h 926629"/>
                <a:gd name="connsiteX1" fmla="*/ 1853258 w 1853258"/>
                <a:gd name="connsiteY1" fmla="*/ 0 h 926629"/>
                <a:gd name="connsiteX2" fmla="*/ 1853258 w 1853258"/>
                <a:gd name="connsiteY2" fmla="*/ 926629 h 926629"/>
                <a:gd name="connsiteX3" fmla="*/ 0 w 1853258"/>
                <a:gd name="connsiteY3" fmla="*/ 926629 h 926629"/>
                <a:gd name="connsiteX4" fmla="*/ 0 w 1853258"/>
                <a:gd name="connsiteY4" fmla="*/ 0 h 926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258" h="926629">
                  <a:moveTo>
                    <a:pt x="0" y="0"/>
                  </a:moveTo>
                  <a:lnTo>
                    <a:pt x="1853258" y="0"/>
                  </a:lnTo>
                  <a:lnTo>
                    <a:pt x="1853258" y="926629"/>
                  </a:lnTo>
                  <a:lnTo>
                    <a:pt x="0" y="926629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ts val="300"/>
                </a:spcAft>
              </a:pPr>
              <a:r>
                <a:rPr lang="en-US" sz="1100" b="1" kern="1200" dirty="0" smtClean="0">
                  <a:solidFill>
                    <a:schemeClr val="tx1"/>
                  </a:solidFill>
                </a:rPr>
                <a:t>Brian </a:t>
              </a:r>
              <a:r>
                <a:rPr lang="en-US" sz="1100" b="1" kern="1200" dirty="0" err="1" smtClean="0">
                  <a:solidFill>
                    <a:schemeClr val="tx1"/>
                  </a:solidFill>
                </a:rPr>
                <a:t>Cullinan</a:t>
              </a:r>
              <a:endParaRPr lang="en-US" sz="1100" b="1" kern="1200" dirty="0" smtClean="0">
                <a:solidFill>
                  <a:schemeClr val="tx1"/>
                </a:solidFill>
              </a:endParaRPr>
            </a:p>
            <a:p>
              <a:pPr lvl="0" algn="ctr" defTabSz="533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100" kern="1200" dirty="0" smtClean="0">
                  <a:solidFill>
                    <a:schemeClr val="tx1"/>
                  </a:solidFill>
                </a:rPr>
                <a:t>Software Developer</a:t>
              </a:r>
              <a:endParaRPr lang="en-US" sz="1100" kern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100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33400" y="6096000"/>
            <a:ext cx="8153400" cy="76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dirty="0" smtClean="0"/>
              <a:t>EPIC Research </a:t>
            </a:r>
            <a:r>
              <a:rPr lang="en-US" dirty="0"/>
              <a:t>&amp;</a:t>
            </a:r>
            <a:r>
              <a:rPr lang="en-US" dirty="0" smtClean="0"/>
              <a:t> Diagnostics, Inc. Organization					     Confidential &amp; Proprietary</a:t>
            </a:r>
          </a:p>
          <a:p>
            <a:pPr algn="l" eaLnBrk="1" hangingPunct="1"/>
            <a:r>
              <a:rPr lang="en-US" dirty="0" smtClean="0"/>
              <a:t>Document Number: QA-012						         	     Page 2</a:t>
            </a:r>
          </a:p>
          <a:p>
            <a:pPr algn="l" eaLnBrk="1" hangingPunct="1"/>
            <a:r>
              <a:rPr lang="en-US" dirty="0" smtClean="0"/>
              <a:t>Version Number: 002</a:t>
            </a:r>
          </a:p>
        </p:txBody>
      </p:sp>
      <p:sp>
        <p:nvSpPr>
          <p:cNvPr id="21" name="Freeform 20"/>
          <p:cNvSpPr/>
          <p:nvPr/>
        </p:nvSpPr>
        <p:spPr>
          <a:xfrm>
            <a:off x="3991045" y="694677"/>
            <a:ext cx="1673035" cy="591327"/>
          </a:xfrm>
          <a:custGeom>
            <a:avLst/>
            <a:gdLst>
              <a:gd name="connsiteX0" fmla="*/ 0 w 1853258"/>
              <a:gd name="connsiteY0" fmla="*/ 0 h 926629"/>
              <a:gd name="connsiteX1" fmla="*/ 1853258 w 1853258"/>
              <a:gd name="connsiteY1" fmla="*/ 0 h 926629"/>
              <a:gd name="connsiteX2" fmla="*/ 1853258 w 1853258"/>
              <a:gd name="connsiteY2" fmla="*/ 926629 h 926629"/>
              <a:gd name="connsiteX3" fmla="*/ 0 w 1853258"/>
              <a:gd name="connsiteY3" fmla="*/ 926629 h 926629"/>
              <a:gd name="connsiteX4" fmla="*/ 0 w 1853258"/>
              <a:gd name="connsiteY4" fmla="*/ 0 h 92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258" h="926629">
                <a:moveTo>
                  <a:pt x="0" y="0"/>
                </a:moveTo>
                <a:lnTo>
                  <a:pt x="1853258" y="0"/>
                </a:lnTo>
                <a:lnTo>
                  <a:pt x="1853258" y="926629"/>
                </a:lnTo>
                <a:lnTo>
                  <a:pt x="0" y="92662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Nancy Rizzo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dirty="0" smtClean="0">
                <a:solidFill>
                  <a:schemeClr val="tx1"/>
                </a:solidFill>
                <a:latin typeface="Arial" charset="0"/>
              </a:rPr>
              <a:t>Founder/CEO</a:t>
            </a:r>
            <a:endParaRPr kumimoji="0" lang="en-US" sz="110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23" name="Straight Connector 22"/>
          <p:cNvCxnSpPr/>
          <p:nvPr/>
        </p:nvCxnSpPr>
        <p:spPr bwMode="auto">
          <a:xfrm flipH="1">
            <a:off x="3372702" y="2224489"/>
            <a:ext cx="1430444" cy="0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>
            <a:off x="3357999" y="2224491"/>
            <a:ext cx="0" cy="290111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>
            <a:off x="4808005" y="1295400"/>
            <a:ext cx="0" cy="167089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Freeform 32"/>
          <p:cNvSpPr/>
          <p:nvPr/>
        </p:nvSpPr>
        <p:spPr>
          <a:xfrm>
            <a:off x="6334829" y="1462490"/>
            <a:ext cx="1673033" cy="594910"/>
          </a:xfrm>
          <a:custGeom>
            <a:avLst/>
            <a:gdLst>
              <a:gd name="connsiteX0" fmla="*/ 0 w 1853258"/>
              <a:gd name="connsiteY0" fmla="*/ 0 h 926629"/>
              <a:gd name="connsiteX1" fmla="*/ 1853258 w 1853258"/>
              <a:gd name="connsiteY1" fmla="*/ 0 h 926629"/>
              <a:gd name="connsiteX2" fmla="*/ 1853258 w 1853258"/>
              <a:gd name="connsiteY2" fmla="*/ 926629 h 926629"/>
              <a:gd name="connsiteX3" fmla="*/ 0 w 1853258"/>
              <a:gd name="connsiteY3" fmla="*/ 926629 h 926629"/>
              <a:gd name="connsiteX4" fmla="*/ 0 w 1853258"/>
              <a:gd name="connsiteY4" fmla="*/ 0 h 92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258" h="926629">
                <a:moveTo>
                  <a:pt x="0" y="0"/>
                </a:moveTo>
                <a:lnTo>
                  <a:pt x="1853258" y="0"/>
                </a:lnTo>
                <a:lnTo>
                  <a:pt x="1853258" y="926629"/>
                </a:lnTo>
                <a:lnTo>
                  <a:pt x="0" y="92662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Andrea Miller</a:t>
            </a:r>
            <a:endParaRPr kumimoji="0" lang="en-US" sz="11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0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Quality Assurance</a:t>
            </a:r>
            <a:r>
              <a:rPr kumimoji="0" lang="en-US" sz="1100" b="0" i="0" u="none" strike="noStrike" kern="1200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 Manager</a:t>
            </a:r>
            <a:endParaRPr kumimoji="0" lang="en-US" sz="1100" b="1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34" name="Straight Connector 33"/>
          <p:cNvCxnSpPr/>
          <p:nvPr/>
        </p:nvCxnSpPr>
        <p:spPr bwMode="auto">
          <a:xfrm flipH="1">
            <a:off x="5644525" y="1759945"/>
            <a:ext cx="681758" cy="0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/>
          <p:nvPr/>
        </p:nvCxnSpPr>
        <p:spPr bwMode="auto">
          <a:xfrm>
            <a:off x="4827087" y="2032147"/>
            <a:ext cx="1" cy="192342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/>
          <p:nvPr/>
        </p:nvCxnSpPr>
        <p:spPr bwMode="auto">
          <a:xfrm flipH="1">
            <a:off x="4803145" y="2224489"/>
            <a:ext cx="1518277" cy="0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Straight Connector 34"/>
          <p:cNvCxnSpPr/>
          <p:nvPr/>
        </p:nvCxnSpPr>
        <p:spPr bwMode="auto">
          <a:xfrm>
            <a:off x="6334829" y="2224489"/>
            <a:ext cx="0" cy="290111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6" name="Straight Connector 35"/>
          <p:cNvCxnSpPr/>
          <p:nvPr/>
        </p:nvCxnSpPr>
        <p:spPr bwMode="auto">
          <a:xfrm>
            <a:off x="6321421" y="3117370"/>
            <a:ext cx="1" cy="192342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/>
          <p:nvPr/>
        </p:nvCxnSpPr>
        <p:spPr bwMode="auto">
          <a:xfrm flipV="1">
            <a:off x="3369016" y="3114908"/>
            <a:ext cx="3686" cy="2066692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/>
          <p:cNvCxnSpPr/>
          <p:nvPr/>
        </p:nvCxnSpPr>
        <p:spPr bwMode="auto">
          <a:xfrm flipH="1">
            <a:off x="3197033" y="3597956"/>
            <a:ext cx="351337" cy="0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/>
          <p:cNvCxnSpPr/>
          <p:nvPr/>
        </p:nvCxnSpPr>
        <p:spPr bwMode="auto">
          <a:xfrm flipH="1">
            <a:off x="3197033" y="4376169"/>
            <a:ext cx="351338" cy="2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Straight Connector 68"/>
          <p:cNvCxnSpPr/>
          <p:nvPr/>
        </p:nvCxnSpPr>
        <p:spPr bwMode="auto">
          <a:xfrm>
            <a:off x="3048000" y="5181600"/>
            <a:ext cx="838200" cy="0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0" name="Freeform 79"/>
          <p:cNvSpPr/>
          <p:nvPr/>
        </p:nvSpPr>
        <p:spPr>
          <a:xfrm>
            <a:off x="1524000" y="4876800"/>
            <a:ext cx="1673033" cy="762000"/>
          </a:xfrm>
          <a:custGeom>
            <a:avLst/>
            <a:gdLst>
              <a:gd name="connsiteX0" fmla="*/ 0 w 1853258"/>
              <a:gd name="connsiteY0" fmla="*/ 0 h 926629"/>
              <a:gd name="connsiteX1" fmla="*/ 1853258 w 1853258"/>
              <a:gd name="connsiteY1" fmla="*/ 0 h 926629"/>
              <a:gd name="connsiteX2" fmla="*/ 1853258 w 1853258"/>
              <a:gd name="connsiteY2" fmla="*/ 926629 h 926629"/>
              <a:gd name="connsiteX3" fmla="*/ 0 w 1853258"/>
              <a:gd name="connsiteY3" fmla="*/ 926629 h 926629"/>
              <a:gd name="connsiteX4" fmla="*/ 0 w 1853258"/>
              <a:gd name="connsiteY4" fmla="*/ 0 h 92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258" h="926629">
                <a:moveTo>
                  <a:pt x="0" y="0"/>
                </a:moveTo>
                <a:lnTo>
                  <a:pt x="1853258" y="0"/>
                </a:lnTo>
                <a:lnTo>
                  <a:pt x="1853258" y="926629"/>
                </a:lnTo>
                <a:lnTo>
                  <a:pt x="0" y="92662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sz="1100" b="1" kern="1200" dirty="0" smtClean="0">
                <a:solidFill>
                  <a:schemeClr val="tx1"/>
                </a:solidFill>
              </a:rPr>
              <a:t>Engineering and Manufacturing</a:t>
            </a:r>
          </a:p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1100" dirty="0" smtClean="0">
                <a:solidFill>
                  <a:schemeClr val="tx1"/>
                </a:solidFill>
              </a:rPr>
              <a:t>Contract Services </a:t>
            </a:r>
          </a:p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dirty="0" smtClean="0">
                <a:solidFill>
                  <a:schemeClr val="tx1"/>
                </a:solidFill>
              </a:rPr>
              <a:t>(PADT, MJS)</a:t>
            </a:r>
            <a:endParaRPr lang="en-US" sz="1100" b="0" kern="1200" dirty="0">
              <a:solidFill>
                <a:schemeClr val="tx1"/>
              </a:solidFill>
            </a:endParaRPr>
          </a:p>
        </p:txBody>
      </p:sp>
      <p:sp>
        <p:nvSpPr>
          <p:cNvPr id="88" name="Freeform 87"/>
          <p:cNvSpPr/>
          <p:nvPr/>
        </p:nvSpPr>
        <p:spPr>
          <a:xfrm>
            <a:off x="1810271" y="1462489"/>
            <a:ext cx="1673033" cy="569657"/>
          </a:xfrm>
          <a:custGeom>
            <a:avLst/>
            <a:gdLst>
              <a:gd name="connsiteX0" fmla="*/ 0 w 1853258"/>
              <a:gd name="connsiteY0" fmla="*/ 0 h 926629"/>
              <a:gd name="connsiteX1" fmla="*/ 1853258 w 1853258"/>
              <a:gd name="connsiteY1" fmla="*/ 0 h 926629"/>
              <a:gd name="connsiteX2" fmla="*/ 1853258 w 1853258"/>
              <a:gd name="connsiteY2" fmla="*/ 926629 h 926629"/>
              <a:gd name="connsiteX3" fmla="*/ 0 w 1853258"/>
              <a:gd name="connsiteY3" fmla="*/ 926629 h 926629"/>
              <a:gd name="connsiteX4" fmla="*/ 0 w 1853258"/>
              <a:gd name="connsiteY4" fmla="*/ 0 h 92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258" h="926629">
                <a:moveTo>
                  <a:pt x="0" y="0"/>
                </a:moveTo>
                <a:lnTo>
                  <a:pt x="1853258" y="0"/>
                </a:lnTo>
                <a:lnTo>
                  <a:pt x="1853258" y="926629"/>
                </a:lnTo>
                <a:lnTo>
                  <a:pt x="0" y="92662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ts val="300"/>
              </a:spcAft>
            </a:pPr>
            <a:r>
              <a:rPr lang="en-US" sz="1100" b="1" kern="1200" dirty="0" smtClean="0">
                <a:solidFill>
                  <a:schemeClr val="tx1"/>
                </a:solidFill>
              </a:rPr>
              <a:t>Regulatory</a:t>
            </a:r>
          </a:p>
          <a:p>
            <a:pPr lvl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1100" dirty="0" smtClean="0">
                <a:solidFill>
                  <a:schemeClr val="tx1"/>
                </a:solidFill>
              </a:rPr>
              <a:t>Contract Services (NAMSA, </a:t>
            </a:r>
            <a:r>
              <a:rPr lang="en-US" sz="1100" dirty="0" err="1" smtClean="0">
                <a:solidFill>
                  <a:schemeClr val="tx1"/>
                </a:solidFill>
              </a:rPr>
              <a:t>DuVal</a:t>
            </a:r>
            <a:r>
              <a:rPr lang="en-US" sz="1100" dirty="0" smtClean="0">
                <a:solidFill>
                  <a:schemeClr val="tx1"/>
                </a:solidFill>
              </a:rPr>
              <a:t>)</a:t>
            </a:r>
            <a:endParaRPr lang="en-US" sz="1100" b="0" kern="1200" dirty="0">
              <a:solidFill>
                <a:schemeClr val="tx1"/>
              </a:solidFill>
            </a:endParaRPr>
          </a:p>
        </p:txBody>
      </p:sp>
      <p:cxnSp>
        <p:nvCxnSpPr>
          <p:cNvPr id="89" name="Straight Connector 88"/>
          <p:cNvCxnSpPr/>
          <p:nvPr/>
        </p:nvCxnSpPr>
        <p:spPr bwMode="auto">
          <a:xfrm flipH="1">
            <a:off x="3483305" y="1777545"/>
            <a:ext cx="507265" cy="0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 flipH="1" flipV="1">
            <a:off x="3372702" y="990340"/>
            <a:ext cx="617868" cy="937"/>
          </a:xfrm>
          <a:prstGeom prst="line">
            <a:avLst/>
          </a:prstGeom>
          <a:noFill/>
          <a:ln w="28575" cap="flat" cmpd="sng" algn="ctr">
            <a:solidFill>
              <a:srgbClr val="94B2B5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Freeform 41"/>
          <p:cNvSpPr/>
          <p:nvPr/>
        </p:nvSpPr>
        <p:spPr>
          <a:xfrm>
            <a:off x="1810271" y="724335"/>
            <a:ext cx="1673033" cy="594199"/>
          </a:xfrm>
          <a:custGeom>
            <a:avLst/>
            <a:gdLst>
              <a:gd name="connsiteX0" fmla="*/ 0 w 1853258"/>
              <a:gd name="connsiteY0" fmla="*/ 0 h 926629"/>
              <a:gd name="connsiteX1" fmla="*/ 1853258 w 1853258"/>
              <a:gd name="connsiteY1" fmla="*/ 0 h 926629"/>
              <a:gd name="connsiteX2" fmla="*/ 1853258 w 1853258"/>
              <a:gd name="connsiteY2" fmla="*/ 926629 h 926629"/>
              <a:gd name="connsiteX3" fmla="*/ 0 w 1853258"/>
              <a:gd name="connsiteY3" fmla="*/ 926629 h 926629"/>
              <a:gd name="connsiteX4" fmla="*/ 0 w 1853258"/>
              <a:gd name="connsiteY4" fmla="*/ 0 h 92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258" h="926629">
                <a:moveTo>
                  <a:pt x="0" y="0"/>
                </a:moveTo>
                <a:lnTo>
                  <a:pt x="1853258" y="0"/>
                </a:lnTo>
                <a:lnTo>
                  <a:pt x="1853258" y="926629"/>
                </a:lnTo>
                <a:lnTo>
                  <a:pt x="0" y="92662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7620" tIns="7620" rIns="7620" bIns="7620" numCol="1" spcCol="127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0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kern="1200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Biostatistics</a:t>
            </a:r>
          </a:p>
          <a:p>
            <a:pPr marL="0" marR="0" indent="0" algn="ctr" defTabSz="533400" eaLnBrk="1" latinLnBrk="0" hangingPunct="1">
              <a:lnSpc>
                <a:spcPct val="90000"/>
              </a:lnSpc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chemeClr val="tx1"/>
                </a:solidFill>
              </a:rPr>
              <a:t>Contract Services</a:t>
            </a:r>
          </a:p>
          <a:p>
            <a:pPr marL="0" marR="0" indent="0" algn="ctr" defTabSz="533400" eaLnBrk="1" latinLnBrk="0" hangingPunct="1">
              <a:lnSpc>
                <a:spcPct val="90000"/>
              </a:lnSpc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100" dirty="0">
                <a:solidFill>
                  <a:schemeClr val="tx1"/>
                </a:solidFill>
              </a:rPr>
              <a:t>(NAMSA)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749771"/>
              </p:ext>
            </p:extLst>
          </p:nvPr>
        </p:nvGraphicFramePr>
        <p:xfrm>
          <a:off x="3548371" y="4876800"/>
          <a:ext cx="1673032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032"/>
              </a:tblGrid>
              <a:tr h="762000">
                <a:tc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</a:pPr>
                      <a:r>
                        <a:rPr lang="en-US" sz="1100" dirty="0" smtClean="0">
                          <a:solidFill>
                            <a:schemeClr val="tx1"/>
                          </a:solidFill>
                        </a:rPr>
                        <a:t>Marketing</a:t>
                      </a:r>
                    </a:p>
                    <a:p>
                      <a:pPr lvl="0" algn="ctr" defTabSz="533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</a:pPr>
                      <a:r>
                        <a:rPr lang="en-US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Contract Services</a:t>
                      </a:r>
                    </a:p>
                    <a:p>
                      <a:pPr lvl="0" algn="ctr" defTabSz="533400" rtl="0" fontAlgn="base">
                        <a:lnSpc>
                          <a:spcPct val="90000"/>
                        </a:lnSpc>
                        <a:spcBef>
                          <a:spcPct val="0"/>
                        </a:spcBef>
                      </a:pPr>
                      <a:r>
                        <a:rPr lang="en-US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1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DevicePharm</a:t>
                      </a:r>
                      <a:r>
                        <a:rPr lang="en-US" sz="11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1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424974"/>
              </p:ext>
            </p:extLst>
          </p:nvPr>
        </p:nvGraphicFramePr>
        <p:xfrm>
          <a:off x="1524000" y="2438400"/>
          <a:ext cx="6080126" cy="3542515"/>
        </p:xfrm>
        <a:graphic>
          <a:graphicData uri="http://schemas.openxmlformats.org/drawingml/2006/table">
            <a:tbl>
              <a:tblPr/>
              <a:tblGrid>
                <a:gridCol w="983083"/>
                <a:gridCol w="800184"/>
                <a:gridCol w="2497081"/>
                <a:gridCol w="899889"/>
                <a:gridCol w="899889"/>
              </a:tblGrid>
              <a:tr h="50582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Change Order Number:</a:t>
                      </a: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Version Number:</a:t>
                      </a: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Description of Change:</a:t>
                      </a: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Date:</a:t>
                      </a:r>
                      <a:endParaRPr lang="en-US" sz="1000" b="0" dirty="0"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b="0" dirty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Updated </a:t>
                      </a:r>
                      <a:r>
                        <a:rPr lang="en-US" sz="1000" b="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by:</a:t>
                      </a:r>
                      <a:endParaRPr lang="en-US" sz="1000" b="0" dirty="0"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CC-091409-02</a:t>
                      </a:r>
                      <a:endParaRPr lang="en-US" sz="1000" dirty="0"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000</a:t>
                      </a: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New Document</a:t>
                      </a: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10/08/09</a:t>
                      </a:r>
                      <a:endParaRPr lang="en-US" sz="1000" dirty="0"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AM</a:t>
                      </a:r>
                      <a:endParaRPr lang="en-US" sz="1000"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CC-110810-01</a:t>
                      </a:r>
                      <a:endParaRPr lang="en-US" sz="1000" dirty="0"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001</a:t>
                      </a:r>
                      <a:endParaRPr lang="en-US" sz="1000" dirty="0"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Revisions to</a:t>
                      </a:r>
                      <a:r>
                        <a:rPr lang="en-US" sz="1000" baseline="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 organization chart to reflect current organizational structure and to update corporate address.</a:t>
                      </a:r>
                      <a:endParaRPr lang="en-US" sz="1000" dirty="0"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00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8/12/11</a:t>
                      </a:r>
                      <a:endParaRPr lang="fr-FR" sz="1000" dirty="0"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00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J.</a:t>
                      </a:r>
                      <a:r>
                        <a:rPr lang="fr-FR" sz="1000" baseline="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 Ayres</a:t>
                      </a:r>
                      <a:endParaRPr lang="fr-FR" sz="1000" dirty="0"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436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fr-FR" sz="1000" dirty="0" smtClean="0"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CC-120127-01</a:t>
                      </a:r>
                      <a:endParaRPr lang="fr-FR" sz="1000" dirty="0"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002</a:t>
                      </a:r>
                      <a:endParaRPr lang="en-US" sz="1000" dirty="0">
                        <a:solidFill>
                          <a:schemeClr val="tx1"/>
                        </a:solidFill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Revisions</a:t>
                      </a:r>
                      <a:r>
                        <a:rPr lang="en-US" sz="10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 to organization chart to reflect the use of contract services and their relationship within the company structure.</a:t>
                      </a:r>
                      <a:endParaRPr lang="en-US" sz="1000" dirty="0">
                        <a:solidFill>
                          <a:schemeClr val="tx1"/>
                        </a:solidFill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1/26/12</a:t>
                      </a:r>
                      <a:endParaRPr lang="en-US" sz="1000" dirty="0">
                        <a:solidFill>
                          <a:schemeClr val="tx1"/>
                        </a:solidFill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00" dirty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Calibri"/>
                          <a:cs typeface="Calibri" pitchFamily="34" charset="0"/>
                        </a:rPr>
                        <a:t>J. Ayres</a:t>
                      </a:r>
                      <a:endParaRPr lang="en-US" sz="1000" dirty="0">
                        <a:solidFill>
                          <a:schemeClr val="tx1"/>
                        </a:solidFill>
                        <a:latin typeface="Calibri" pitchFamily="34" charset="0"/>
                        <a:ea typeface="Calibri"/>
                        <a:cs typeface="Calibri" pitchFamily="34" charset="0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69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3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1100" dirty="0"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7" marR="68587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280" name="Rectangle 1"/>
          <p:cNvSpPr>
            <a:spLocks noChangeArrowheads="1"/>
          </p:cNvSpPr>
          <p:nvPr/>
        </p:nvSpPr>
        <p:spPr bwMode="auto">
          <a:xfrm>
            <a:off x="559085" y="1956341"/>
            <a:ext cx="7696200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fr-FR" sz="1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Document </a:t>
            </a:r>
            <a:r>
              <a:rPr lang="en-US" sz="1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Revision</a:t>
            </a:r>
            <a:r>
              <a:rPr lang="fr-FR" sz="1400" b="1" dirty="0"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en-US" sz="1400" b="1" dirty="0" smtClean="0">
                <a:latin typeface="Calibri" pitchFamily="34" charset="0"/>
                <a:ea typeface="Calibri" pitchFamily="34" charset="0"/>
                <a:cs typeface="Times New Roman" pitchFamily="18" charset="0"/>
              </a:rPr>
              <a:t>History</a:t>
            </a:r>
          </a:p>
          <a:p>
            <a:pPr algn="ctr"/>
            <a:endParaRPr lang="en-US" sz="1400" b="1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algn="ctr"/>
            <a:endParaRPr lang="en-US" dirty="0">
              <a:ea typeface="Calibri" pitchFamily="34" charset="0"/>
              <a:cs typeface="Times New Roman" pitchFamily="18" charset="0"/>
            </a:endParaRPr>
          </a:p>
          <a:p>
            <a:pPr algn="ctr" eaLnBrk="0" hangingPunct="0"/>
            <a:endParaRPr lang="en-US" sz="1800" dirty="0"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5" name="Rectangle 75"/>
          <p:cNvSpPr txBox="1">
            <a:spLocks noChangeArrowheads="1"/>
          </p:cNvSpPr>
          <p:nvPr/>
        </p:nvSpPr>
        <p:spPr>
          <a:xfrm>
            <a:off x="4191000" y="304800"/>
            <a:ext cx="4419600" cy="1104900"/>
          </a:xfrm>
          <a:prstGeom prst="rect">
            <a:avLst/>
          </a:prstGeom>
          <a:noFill/>
          <a:ln/>
        </p:spPr>
        <p:txBody>
          <a:bodyPr anchor="b"/>
          <a:lstStyle/>
          <a:p>
            <a:pPr algn="ctr">
              <a:defRPr/>
            </a:pPr>
            <a:r>
              <a:rPr lang="en-US" sz="2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Organization</a:t>
            </a:r>
            <a:br>
              <a:rPr lang="en-US" sz="2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2400" kern="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282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533400" y="6096000"/>
            <a:ext cx="8153400" cy="76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dirty="0" smtClean="0"/>
              <a:t>EPIC Research </a:t>
            </a:r>
            <a:r>
              <a:rPr lang="en-US" dirty="0"/>
              <a:t>&amp;</a:t>
            </a:r>
            <a:r>
              <a:rPr lang="en-US" dirty="0" smtClean="0"/>
              <a:t> Diagnostics, Inc. Organization					     Confidential &amp; Proprietary</a:t>
            </a:r>
          </a:p>
          <a:p>
            <a:pPr algn="l" eaLnBrk="1" hangingPunct="1"/>
            <a:r>
              <a:rPr lang="en-US" dirty="0" smtClean="0"/>
              <a:t>Document Number: QA-012						         	     Page 3</a:t>
            </a:r>
          </a:p>
          <a:p>
            <a:pPr algn="l" eaLnBrk="1" hangingPunct="1"/>
            <a:r>
              <a:rPr lang="en-US" dirty="0" smtClean="0"/>
              <a:t>Version Number: 002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8600"/>
            <a:ext cx="2933700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9804</TotalTime>
  <Words>187</Words>
  <Application>Microsoft Office PowerPoint</Application>
  <PresentationFormat>On-screen Show (4:3)</PresentationFormat>
  <Paragraphs>67</Paragraphs>
  <Slides>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Default Design</vt:lpstr>
      <vt:lpstr>   EPIC Research &amp; Diagnostics, Inc.  Organization</vt:lpstr>
      <vt:lpstr>PowerPoint Presentation</vt:lpstr>
      <vt:lpstr>PowerPoint Presentation</vt:lpstr>
    </vt:vector>
  </TitlesOfParts>
  <Company>Radiall Jerrik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</dc:title>
  <dc:creator>WS000039</dc:creator>
  <cp:lastModifiedBy>EPICUser</cp:lastModifiedBy>
  <cp:revision>371</cp:revision>
  <cp:lastPrinted>2012-01-27T16:31:05Z</cp:lastPrinted>
  <dcterms:created xsi:type="dcterms:W3CDTF">2005-11-07T22:12:48Z</dcterms:created>
  <dcterms:modified xsi:type="dcterms:W3CDTF">2012-01-30T23:20:20Z</dcterms:modified>
</cp:coreProperties>
</file>